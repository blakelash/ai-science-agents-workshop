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469" r:id="rId3"/>
    <p:sldId id="484" r:id="rId4"/>
    <p:sldId id="486" r:id="rId5"/>
    <p:sldId id="455" r:id="rId6"/>
    <p:sldId id="499" r:id="rId7"/>
    <p:sldId id="492" r:id="rId8"/>
    <p:sldId id="495" r:id="rId9"/>
    <p:sldId id="494" r:id="rId10"/>
    <p:sldId id="493" r:id="rId11"/>
    <p:sldId id="490" r:id="rId12"/>
    <p:sldId id="491" r:id="rId13"/>
    <p:sldId id="501" r:id="rId14"/>
    <p:sldId id="502" r:id="rId15"/>
    <p:sldId id="519" r:id="rId16"/>
    <p:sldId id="520" r:id="rId17"/>
    <p:sldId id="512" r:id="rId18"/>
    <p:sldId id="518" r:id="rId19"/>
    <p:sldId id="517" r:id="rId20"/>
    <p:sldId id="516" r:id="rId21"/>
    <p:sldId id="515" r:id="rId22"/>
    <p:sldId id="513" r:id="rId23"/>
    <p:sldId id="508" r:id="rId24"/>
    <p:sldId id="514" r:id="rId25"/>
    <p:sldId id="511" r:id="rId26"/>
    <p:sldId id="510" r:id="rId27"/>
    <p:sldId id="521" r:id="rId28"/>
    <p:sldId id="457" r:id="rId29"/>
    <p:sldId id="527" r:id="rId30"/>
    <p:sldId id="522" r:id="rId31"/>
    <p:sldId id="532" r:id="rId32"/>
    <p:sldId id="528" r:id="rId33"/>
    <p:sldId id="535" r:id="rId34"/>
    <p:sldId id="529" r:id="rId35"/>
    <p:sldId id="530" r:id="rId36"/>
    <p:sldId id="464" r:id="rId37"/>
    <p:sldId id="533" r:id="rId38"/>
    <p:sldId id="466" r:id="rId39"/>
    <p:sldId id="467" r:id="rId40"/>
    <p:sldId id="53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75"/>
    <p:restoredTop sz="78584"/>
  </p:normalViewPr>
  <p:slideViewPr>
    <p:cSldViewPr snapToGrid="0">
      <p:cViewPr varScale="1">
        <p:scale>
          <a:sx n="111" d="100"/>
          <a:sy n="111" d="100"/>
        </p:scale>
        <p:origin x="232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611DF-4C23-2841-A7E9-61543794618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4F727-F792-3E41-B459-2D8132DFD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82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75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72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442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5257-2116-86D9-DFC9-7580E3FE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49385-5BB9-7C80-5481-24F6A7ED0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A133-1B76-3DFF-9438-6B2B0FE50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4DFC3-6DC0-03CC-6ED7-BE7E97BF4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60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0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Hermes is a top level orchestrator that is persistent and durable. </a:t>
            </a:r>
          </a:p>
          <a:p>
            <a:pPr marL="228600" indent="-228600">
              <a:buAutoNum type="arabicPeriod"/>
            </a:pPr>
            <a:r>
              <a:rPr lang="en-US" dirty="0"/>
              <a:t>It has memory, skills, state, tool use, subagents, and more</a:t>
            </a:r>
          </a:p>
          <a:p>
            <a:pPr marL="228600" indent="-228600">
              <a:buAutoNum type="arabicPeriod"/>
            </a:pPr>
            <a:r>
              <a:rPr lang="en-US" dirty="0"/>
              <a:t>It has ability to interact with you across many surfaces, and can pull in context from many places</a:t>
            </a:r>
          </a:p>
          <a:p>
            <a:pPr marL="228600" indent="-228600">
              <a:buAutoNum type="arabicPeriod"/>
            </a:pPr>
            <a:r>
              <a:rPr lang="en-US" dirty="0"/>
              <a:t>It generates memory, skills and tasks on demand, and uses your feedback to improve skills to make later tasks easier.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4F727-F792-3E41-B459-2D8132DFDB6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7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84AE-A3AE-E163-FC75-3150E45A4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47537-BCC3-BF55-DA17-3DACE4BCC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2E3DA-C7CE-5140-78F5-01AEE198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56821-A9D8-039D-72CD-B6159317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04460-281C-18B2-053E-43B67875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1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A22C-0D19-EC28-DA44-98E5B55FE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5A883-D439-9680-CF9D-A5668D33C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9A0DE-3E71-A7E3-FAAF-CFF651B6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117B0-EA87-C5C8-56B5-6AA47318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1AFE6-6D69-8AB1-21C4-CEA7E18C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2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C951-6BBA-C152-E2E7-D54A735B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648FA-20B7-0173-79FF-314840996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526D-821A-B289-33D7-BEE41F2E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944AA-70D1-31F2-3569-C9E090EC1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A8C75-FAA9-ABC7-F920-D9CC8126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0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BD86-C805-79B7-9ECD-9DA80C52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42141-3301-AB9D-DC60-9D260761B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4FEF9-A4D6-1817-C0DE-B2F193137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5CD1E-5A00-9643-3B0A-121B6E9D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8B2A-0B3E-4A99-1808-B0227406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97560-477A-398F-D4A2-65CDFFFC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2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C3C8-CE87-AC4D-7B5F-87461015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074DE-65C8-68CB-73B3-A560F2967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7D783-6F49-0990-DD9F-F6ADC5A32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ECBAE-B47C-0702-049B-FE38511F8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50B8C-9B0E-8235-52FD-4D6B3C600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F80ADE-B379-C072-2CE9-CE3A5A5FD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924B55-6C73-DB75-A9EC-561C21B2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F624B-678C-E032-EAB4-0EFCEE4B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85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267C-11BD-7A88-98C7-F04488A1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4564B-6769-3D24-D8DA-CE8164A4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7BDDB-90CD-F17E-B847-1F1856D8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C622D-6F00-401A-1F31-DD12B046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5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5A26B-E9F3-B6F7-F28B-8E5958F3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1FBD4-82E2-CFE2-0D00-EECCC062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D7768-3443-5B02-0C34-67C4D322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2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91F44-4AE7-C97E-41E4-6F8F973A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7C1D-0557-426D-2419-CE6848AB9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96184-F587-A1BB-648B-D460180E4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DA540-B8B5-B415-11F1-A0F06B844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FA379-5BD2-B414-B09D-4583C12E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3ED3F-A28E-E17A-88AC-52711042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94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B69C-B6FB-F143-0832-37764F41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26910-C246-28A8-CA1A-95109A613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B36B7-5768-E8F0-5AFE-F0B5B088A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E70EE-84DF-E115-73F7-137C3619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0ADEE-1C00-33FC-AE9F-F9954D81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7B7A2-9DFC-E3AC-63D0-BDBA87A0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50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333CB-352A-B61F-FFF7-7F0E4A66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D8673-A3DB-090B-0866-48373F546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8AFF3-25D3-06F8-4EEC-4BB0F4116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F9A5C-31AF-09D4-1764-ED6F2720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7AB7-0BFF-9B77-CE18-4562EF9D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12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FA5A83-B993-8336-870D-35CC4A568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9B310-521C-0CE5-3663-A0B7343F2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ED2B7-1490-54B6-BAE7-49F3B4D62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26D3F-46FA-17C0-B552-EBAD33346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FBDA2-78CE-F25D-665C-B228B641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8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084DA-32BB-20A0-4393-16B67A24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08528-D551-6BBE-E921-5E1C0354F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72E1C-77CF-0C9C-B48A-87B119230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269BA-1899-D44A-96AF-9A44606447D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796AD-AE0F-6396-74CB-A4ED11183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8AB9E-E730-FAA4-C724-DF38AD289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4CD4F-FA46-A547-AEF1-3A19A7BB9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3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perclip.gxl.ai/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E725-7E2D-DF67-322B-BFE66DC8E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1000"/>
            <a:ext cx="9144000" cy="12700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F172A"/>
                </a:solidFill>
                <a:latin typeface="Montserrat"/>
              </a:rPr>
              <a:t>Agents in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7A52F-321B-B387-59D5-4AB1E18F3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0400"/>
            <a:ext cx="9144000" cy="762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475569"/>
                </a:solidFill>
                <a:latin typeface="Montserrat"/>
              </a:rPr>
              <a:t>From reading one paper to building a persistent research collaborator</a:t>
            </a:r>
          </a:p>
        </p:txBody>
      </p:sp>
    </p:spTree>
    <p:extLst>
      <p:ext uri="{BB962C8B-B14F-4D97-AF65-F5344CB8AC3E}">
        <p14:creationId xmlns:p14="http://schemas.microsoft.com/office/powerpoint/2010/main" val="2183803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2EEF-D398-5633-7541-95E6A6B4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F6F69-6018-7578-45C0-481AA135BFF9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Why this matters now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5BEDEE-E6BB-4A6F-BFB2-89364813C870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083F5F-92E9-C1DB-CA8E-D8965F7E54EA}"/>
              </a:ext>
            </a:extLst>
          </p:cNvPr>
          <p:cNvSpPr txBox="1"/>
          <p:nvPr/>
        </p:nvSpPr>
        <p:spPr>
          <a:xfrm>
            <a:off x="457200" y="1117600"/>
            <a:ext cx="11303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Montserrat"/>
              </a:rPr>
              <a:t>Agents have the capability to accelerate many tasks in science, if used correctly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355B1-8943-83B1-6AE0-E005A70EE73B}"/>
              </a:ext>
            </a:extLst>
          </p:cNvPr>
          <p:cNvSpPr txBox="1"/>
          <p:nvPr/>
        </p:nvSpPr>
        <p:spPr>
          <a:xfrm>
            <a:off x="8128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0369A1"/>
                </a:solidFill>
                <a:latin typeface="Montserrat"/>
              </a:rPr>
              <a:t>Papers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6161B-CEDA-9941-8EF3-FE03F212D0C8}"/>
              </a:ext>
            </a:extLst>
          </p:cNvPr>
          <p:cNvSpPr txBox="1"/>
          <p:nvPr/>
        </p:nvSpPr>
        <p:spPr>
          <a:xfrm>
            <a:off x="8382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dirty="0">
                <a:solidFill>
                  <a:srgbClr val="334155"/>
                </a:solidFill>
                <a:latin typeface="Montserrat"/>
              </a:rPr>
              <a:t>Reading, extracting claims, and keeping up with a moving literature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1C4A4-FE56-BEAD-00DA-B717C69592F2}"/>
              </a:ext>
            </a:extLst>
          </p:cNvPr>
          <p:cNvSpPr txBox="1"/>
          <p:nvPr/>
        </p:nvSpPr>
        <p:spPr>
          <a:xfrm>
            <a:off x="45720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C2410C"/>
                </a:solidFill>
                <a:latin typeface="Montserrat"/>
              </a:rPr>
              <a:t>Code &amp;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64790-8A0F-0A44-5AD2-1E728814112E}"/>
              </a:ext>
            </a:extLst>
          </p:cNvPr>
          <p:cNvSpPr txBox="1"/>
          <p:nvPr/>
        </p:nvSpPr>
        <p:spPr>
          <a:xfrm>
            <a:off x="45974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dirty="0">
                <a:solidFill>
                  <a:srgbClr val="334155"/>
                </a:solidFill>
                <a:latin typeface="Montserrat"/>
              </a:rPr>
              <a:t>Notebooks, plots, data cleaning, and analyses that should be reproducible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25A09-42EA-095A-103A-A6E9919F3669}"/>
              </a:ext>
            </a:extLst>
          </p:cNvPr>
          <p:cNvSpPr txBox="1"/>
          <p:nvPr/>
        </p:nvSpPr>
        <p:spPr>
          <a:xfrm>
            <a:off x="83312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86198F"/>
                </a:solidFill>
                <a:latin typeface="Montserrat"/>
              </a:rPr>
              <a:t>Decisions &amp; Judgment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14A84-C28D-CFE0-B35C-09AA9D653B94}"/>
              </a:ext>
            </a:extLst>
          </p:cNvPr>
          <p:cNvSpPr txBox="1"/>
          <p:nvPr/>
        </p:nvSpPr>
        <p:spPr>
          <a:xfrm>
            <a:off x="83566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>
                <a:solidFill>
                  <a:srgbClr val="334155"/>
                </a:solidFill>
                <a:latin typeface="Montserrat"/>
              </a:rPr>
              <a:t>What to trust, what to test next, and when a human must stay in the loop</a:t>
            </a:r>
          </a:p>
        </p:txBody>
      </p:sp>
    </p:spTree>
    <p:extLst>
      <p:ext uri="{BB962C8B-B14F-4D97-AF65-F5344CB8AC3E}">
        <p14:creationId xmlns:p14="http://schemas.microsoft.com/office/powerpoint/2010/main" val="209909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E4E0-A9BA-E623-3484-821520965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35476-55D9-2EA4-7644-207F4BDE1BF0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Why this matters now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FA78AD-CDBE-7C56-E667-6C046F91A918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5F282-3EDA-75E5-05D9-3E5F4D4B0156}"/>
              </a:ext>
            </a:extLst>
          </p:cNvPr>
          <p:cNvSpPr txBox="1"/>
          <p:nvPr/>
        </p:nvSpPr>
        <p:spPr>
          <a:xfrm>
            <a:off x="457200" y="1117600"/>
            <a:ext cx="11303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Montserrat"/>
              </a:rPr>
              <a:t>Agents have the capability to accelerate many tasks in science, if used correctly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07E58-0275-4135-1F74-B12E47F048CB}"/>
              </a:ext>
            </a:extLst>
          </p:cNvPr>
          <p:cNvSpPr txBox="1"/>
          <p:nvPr/>
        </p:nvSpPr>
        <p:spPr>
          <a:xfrm>
            <a:off x="8128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 dirty="0">
                <a:solidFill>
                  <a:srgbClr val="0369A1"/>
                </a:solidFill>
                <a:latin typeface="Montserrat"/>
              </a:rPr>
              <a:t>Papers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48479-741C-7359-9EA4-E388ADD636F4}"/>
              </a:ext>
            </a:extLst>
          </p:cNvPr>
          <p:cNvSpPr txBox="1"/>
          <p:nvPr/>
        </p:nvSpPr>
        <p:spPr>
          <a:xfrm>
            <a:off x="8382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dirty="0">
                <a:solidFill>
                  <a:srgbClr val="334155"/>
                </a:solidFill>
                <a:latin typeface="Montserrat"/>
              </a:rPr>
              <a:t>Reading, extracting claims, and keeping up with a moving literature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8A969-E6B2-5384-7D6A-7209903C3F6F}"/>
              </a:ext>
            </a:extLst>
          </p:cNvPr>
          <p:cNvSpPr txBox="1"/>
          <p:nvPr/>
        </p:nvSpPr>
        <p:spPr>
          <a:xfrm>
            <a:off x="45720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C2410C"/>
                </a:solidFill>
                <a:latin typeface="Montserrat"/>
              </a:rPr>
              <a:t>Code &amp;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2ACE6-F0C1-B05F-0489-E68C7094E592}"/>
              </a:ext>
            </a:extLst>
          </p:cNvPr>
          <p:cNvSpPr txBox="1"/>
          <p:nvPr/>
        </p:nvSpPr>
        <p:spPr>
          <a:xfrm>
            <a:off x="45974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dirty="0">
                <a:solidFill>
                  <a:srgbClr val="334155"/>
                </a:solidFill>
                <a:latin typeface="Montserrat"/>
              </a:rPr>
              <a:t>Notebooks, plots, data cleaning, and analyses that should be reproducible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204B94-21F1-91D0-3709-6CCE7BC39644}"/>
              </a:ext>
            </a:extLst>
          </p:cNvPr>
          <p:cNvSpPr txBox="1"/>
          <p:nvPr/>
        </p:nvSpPr>
        <p:spPr>
          <a:xfrm>
            <a:off x="8331200" y="2932973"/>
            <a:ext cx="304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86198F"/>
                </a:solidFill>
                <a:latin typeface="Montserrat"/>
              </a:rPr>
              <a:t>Decisions &amp; Judgment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D5F8D9-794B-CA60-C5EB-05BC3AB86672}"/>
              </a:ext>
            </a:extLst>
          </p:cNvPr>
          <p:cNvSpPr txBox="1"/>
          <p:nvPr/>
        </p:nvSpPr>
        <p:spPr>
          <a:xfrm>
            <a:off x="8356600" y="3746500"/>
            <a:ext cx="2997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>
                <a:solidFill>
                  <a:srgbClr val="334155"/>
                </a:solidFill>
                <a:latin typeface="Montserrat"/>
              </a:rPr>
              <a:t>What to trust, what to test next, and when a human must stay in the loop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6C6C6D-9725-F8E3-11D3-FE4E5ADF2F73}"/>
              </a:ext>
            </a:extLst>
          </p:cNvPr>
          <p:cNvSpPr/>
          <p:nvPr/>
        </p:nvSpPr>
        <p:spPr>
          <a:xfrm>
            <a:off x="609600" y="5651500"/>
            <a:ext cx="10972800" cy="660400"/>
          </a:xfrm>
          <a:prstGeom prst="roundRect">
            <a:avLst/>
          </a:prstGeom>
          <a:noFill/>
          <a:ln w="15875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D4ED8"/>
                </a:solidFill>
                <a:latin typeface="Montserrat"/>
              </a:rPr>
              <a:t>Quick poll: who already uses AI in their research every week?</a:t>
            </a:r>
          </a:p>
        </p:txBody>
      </p:sp>
    </p:spTree>
    <p:extLst>
      <p:ext uri="{BB962C8B-B14F-4D97-AF65-F5344CB8AC3E}">
        <p14:creationId xmlns:p14="http://schemas.microsoft.com/office/powerpoint/2010/main" val="144957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867D-71DF-44FB-7EDE-DAC5E766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1AD2C-5183-54FE-E8DD-780A40076995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Goals of this workshop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2451F-6CE7-5839-881C-4904A094ED1C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C6D1-B08D-176D-CB43-F0C5095277E3}"/>
              </a:ext>
            </a:extLst>
          </p:cNvPr>
          <p:cNvSpPr txBox="1"/>
          <p:nvPr/>
        </p:nvSpPr>
        <p:spPr>
          <a:xfrm>
            <a:off x="1143000" y="2032000"/>
            <a:ext cx="9906000" cy="4191000"/>
          </a:xfrm>
          <a:prstGeom prst="rect">
            <a:avLst/>
          </a:prstGeom>
          <a:noFill/>
        </p:spPr>
        <p:txBody>
          <a:bodyPr wrap="square" anchor="t" anchorCtr="0">
            <a:noAutofit/>
          </a:bodyPr>
          <a:lstStyle/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Build a clear mental model for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when AI/chat/copilots/agents/workflows are actually useful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Learn a practical framework for deciding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what should be automated vs what should stay human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See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concrete, realistic examples</a:t>
            </a:r>
            <a:r>
              <a:rPr lang="en-US" dirty="0">
                <a:solidFill>
                  <a:srgbClr val="334155"/>
                </a:solidFill>
                <a:latin typeface="Montserrat"/>
              </a:rPr>
              <a:t> of these systems in scientific/research workflows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Understand the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guardrails, validation checks, and failure modes</a:t>
            </a:r>
            <a:r>
              <a:rPr lang="en-US" dirty="0">
                <a:solidFill>
                  <a:srgbClr val="334155"/>
                </a:solidFill>
                <a:latin typeface="Montserrat"/>
              </a:rPr>
              <a:t> needed to use them responsibly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Leave with </a:t>
            </a:r>
            <a:r>
              <a:rPr lang="en-US" b="1" dirty="0">
                <a:solidFill>
                  <a:srgbClr val="0F172A"/>
                </a:solidFill>
                <a:latin typeface="Montserrat"/>
              </a:rPr>
              <a:t>portable takeaways</a:t>
            </a:r>
            <a:r>
              <a:rPr lang="en-US" dirty="0">
                <a:solidFill>
                  <a:srgbClr val="334155"/>
                </a:solidFill>
                <a:latin typeface="Montserrat"/>
              </a:rPr>
              <a:t> you can apply immediately in your own work</a:t>
            </a:r>
          </a:p>
          <a:p>
            <a:pPr marL="342900" indent="-342900">
              <a:spcBef>
                <a:spcPts val="900"/>
              </a:spcBef>
              <a:buFont typeface="Arial"/>
              <a:buChar char="•"/>
            </a:pPr>
            <a:endParaRPr lang="en-US" dirty="0">
              <a:solidFill>
                <a:srgbClr val="334155"/>
              </a:solidFill>
              <a:latin typeface="Montserrat"/>
            </a:endParaRPr>
          </a:p>
          <a:p>
            <a:pPr>
              <a:spcBef>
                <a:spcPts val="900"/>
              </a:spcBef>
            </a:pPr>
            <a:r>
              <a:rPr lang="en-US" dirty="0">
                <a:solidFill>
                  <a:srgbClr val="334155"/>
                </a:solidFill>
                <a:latin typeface="Montserrat"/>
              </a:rPr>
              <a:t>NOT GOALS: How do I prompt agents, what is the best AI tool (answer: depends!)</a:t>
            </a:r>
          </a:p>
        </p:txBody>
      </p:sp>
    </p:spTree>
    <p:extLst>
      <p:ext uri="{BB962C8B-B14F-4D97-AF65-F5344CB8AC3E}">
        <p14:creationId xmlns:p14="http://schemas.microsoft.com/office/powerpoint/2010/main" val="60180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0DD07C-9BC2-7042-9372-B338206625BD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State of agents in science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DCA490-F676-734D-BA4B-DB9187263080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84BF88E-6EA1-754F-8036-356E92D52556}"/>
              </a:ext>
            </a:extLst>
          </p:cNvPr>
          <p:cNvSpPr/>
          <p:nvPr/>
        </p:nvSpPr>
        <p:spPr>
          <a:xfrm>
            <a:off x="609600" y="1919516"/>
            <a:ext cx="10972800" cy="533400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0EA5E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C4A6E"/>
                </a:solidFill>
                <a:latin typeface="Montserrat"/>
              </a:rPr>
              <a:t>Agents are useful when scientific work is variable but verifiable.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5F5BBD-54BE-DB4F-9CE1-DA795E8ACFE0}"/>
              </a:ext>
            </a:extLst>
          </p:cNvPr>
          <p:cNvSpPr/>
          <p:nvPr/>
        </p:nvSpPr>
        <p:spPr>
          <a:xfrm>
            <a:off x="1010195" y="3429000"/>
            <a:ext cx="1349829" cy="423817"/>
          </a:xfrm>
          <a:prstGeom prst="roundRect">
            <a:avLst/>
          </a:prstGeom>
          <a:solidFill>
            <a:srgbClr val="F1F5F9"/>
          </a:solidFill>
          <a:ln w="15875" cap="flat" cmpd="sng" algn="ctr">
            <a:solidFill>
              <a:srgbClr val="6474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334155"/>
                </a:solidFill>
                <a:latin typeface="Montserrat"/>
              </a:rPr>
              <a:t>Pipelines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6786A9-23F0-AE40-9A35-C942A3691B7D}"/>
              </a:ext>
            </a:extLst>
          </p:cNvPr>
          <p:cNvSpPr/>
          <p:nvPr/>
        </p:nvSpPr>
        <p:spPr>
          <a:xfrm>
            <a:off x="2518228" y="3428999"/>
            <a:ext cx="8585200" cy="423818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dirty="0">
                <a:solidFill>
                  <a:srgbClr val="334155"/>
                </a:solidFill>
                <a:latin typeface="Montserrat"/>
              </a:rPr>
              <a:t>Handle repetition: fixed steps, predictable inputs, the same checks every run.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ED7186-C37E-9644-B0D2-0FC0CDD18602}"/>
              </a:ext>
            </a:extLst>
          </p:cNvPr>
          <p:cNvSpPr/>
          <p:nvPr/>
        </p:nvSpPr>
        <p:spPr>
          <a:xfrm>
            <a:off x="1010195" y="4453708"/>
            <a:ext cx="1349829" cy="423818"/>
          </a:xfrm>
          <a:prstGeom prst="roundRect">
            <a:avLst/>
          </a:prstGeom>
          <a:solidFill>
            <a:srgbClr val="EDE9FE"/>
          </a:solidFill>
          <a:ln w="15875" cap="flat" cmpd="sng" algn="ctr">
            <a:solidFill>
              <a:srgbClr val="7C3A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b="1">
                <a:solidFill>
                  <a:srgbClr val="6D28D9"/>
                </a:solidFill>
                <a:latin typeface="Montserrat"/>
              </a:rPr>
              <a:t>Agents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8BDE24-DE2F-3F40-A5CD-3BB84E90B26D}"/>
              </a:ext>
            </a:extLst>
          </p:cNvPr>
          <p:cNvSpPr/>
          <p:nvPr/>
        </p:nvSpPr>
        <p:spPr>
          <a:xfrm>
            <a:off x="2518228" y="4460239"/>
            <a:ext cx="8585200" cy="423817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dirty="0">
                <a:solidFill>
                  <a:srgbClr val="334155"/>
                </a:solidFill>
                <a:latin typeface="Montserrat"/>
              </a:rPr>
              <a:t>Handle bounded variation: choosing next steps around reliable, verifiable tools.</a:t>
            </a:r>
          </a:p>
        </p:txBody>
      </p:sp>
    </p:spTree>
    <p:extLst>
      <p:ext uri="{BB962C8B-B14F-4D97-AF65-F5344CB8AC3E}">
        <p14:creationId xmlns:p14="http://schemas.microsoft.com/office/powerpoint/2010/main" val="1406367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103D6-0D89-7A45-A71C-C5FBEB00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880DD686-E59E-483B-C011-0F370F175C7F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Basic terminology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E86EF50F-8230-8AA4-E1E6-5650EF77E5F5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8BC10-EEBB-A833-F2B2-68269488178F}"/>
              </a:ext>
            </a:extLst>
          </p:cNvPr>
          <p:cNvSpPr txBox="1"/>
          <p:nvPr/>
        </p:nvSpPr>
        <p:spPr>
          <a:xfrm>
            <a:off x="762000" y="2032000"/>
            <a:ext cx="10668000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LLM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the model that generates text based on a prediction of the next word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Context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the information currently available to the model (prompt, docs, history, retrieved material)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Tool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an external capability the model can call (search, code execution, database query, API)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Agent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an LLM + context + tools + a loop for taking and checking actions</a:t>
            </a:r>
          </a:p>
          <a:p>
            <a:pPr marL="342900" indent="-342900">
              <a:spcBef>
                <a:spcPts val="1400"/>
              </a:spcBef>
              <a:buFont typeface="Arial"/>
              <a:buChar char="•"/>
            </a:pPr>
            <a:r>
              <a:rPr lang="en-US" sz="1800" b="1" dirty="0">
                <a:solidFill>
                  <a:srgbClr val="0F172A"/>
                </a:solidFill>
                <a:latin typeface="Montserrat"/>
              </a:rPr>
              <a:t>Pipeline</a:t>
            </a:r>
            <a:r>
              <a:rPr lang="en-US" sz="1800" dirty="0">
                <a:solidFill>
                  <a:srgbClr val="334155"/>
                </a:solidFill>
                <a:latin typeface="Montserrat"/>
              </a:rPr>
              <a:t> — a fixed sequence of steps that runs the same way each time</a:t>
            </a:r>
          </a:p>
        </p:txBody>
      </p:sp>
    </p:spTree>
    <p:extLst>
      <p:ext uri="{BB962C8B-B14F-4D97-AF65-F5344CB8AC3E}">
        <p14:creationId xmlns:p14="http://schemas.microsoft.com/office/powerpoint/2010/main" val="133012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65E10-B8CB-9DB6-60B4-BA399E3B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54DBE31B-83D9-4CF0-AC06-432A7F4E1F51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9766EF82-4F7F-7064-68CA-472463C6797B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9D378A90-2C95-FCD0-B432-3A377DF554F9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21451C15-276A-4DAB-7E59-B3ABCA0EB4EA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E2C6CE6F-E947-A6EB-4300-E9C88205CDFE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EEAE4D10-56AB-44EE-D07F-456D7769D9B9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816385F2-7930-2CEF-8C84-FE804F2F581B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40E13EE1-00E9-5797-D6AF-4D5537B2DFD8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FFB83477-C22B-2CA3-8935-11EBAC4CB41E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ED45A940-EE85-94FB-2EDE-481DA9485708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sp>
        <p:nvSpPr>
          <p:cNvPr id="3004" name="Input Prompt">
            <a:extLst>
              <a:ext uri="{FF2B5EF4-FFF2-40B4-BE49-F238E27FC236}">
                <a16:creationId xmlns:a16="http://schemas.microsoft.com/office/drawing/2014/main" id="{14FF51B1-4953-4F20-6C3B-9988209CD0C2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A5B5146D-6AF2-5589-851A-A24E00BF8554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AE03245E-A961-287B-F917-13CE2DCDA9D9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7ABD29-8686-2AFC-5858-F4195DA0156C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189308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43CF-CF53-3DA2-810C-1D5C76E0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A2F5D454-BD74-2FAF-BD4B-1E61A7C6EA67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560AB2A4-929F-727D-19C3-A72FAB3CBA3B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711838D0-7FD0-E98C-1133-C606633FF238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66BAE223-7336-8440-FF51-C5CD81C280A7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60E1435F-9D86-453B-7404-E38BB3934547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D3D236D7-AAEE-0E3E-AD59-10F5AF7A553B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18E8E81B-815E-ED4D-4D73-30C563A22510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158F5F2E-0B5E-E900-C077-AE5CBBD5520E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C3A25988-9D01-76FF-2C14-0AF2DD7B772E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237CFCAB-C80A-455A-874F-BA725482C907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FD5E54E-836C-1A95-153D-0243879840F2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3848CD99-2BCF-79C5-B42C-FDC2DC259BA0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sp>
        <p:nvSpPr>
          <p:cNvPr id="3004" name="Input Prompt">
            <a:extLst>
              <a:ext uri="{FF2B5EF4-FFF2-40B4-BE49-F238E27FC236}">
                <a16:creationId xmlns:a16="http://schemas.microsoft.com/office/drawing/2014/main" id="{EC1F3963-13FC-09D7-6509-37209C755E1A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340028FC-C346-B348-F6F8-E0FBE87EBDA8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48F224BB-941B-10B7-317B-CBCC487C7E00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532A2-0EE6-E717-7150-94AB4770279B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139288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F789-605F-C8DB-6CBE-D6372BC6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33D73401-E7F9-9347-6A4A-B3724677B16A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B82AB6D5-B188-3360-E10C-49B69348A339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8CEEC454-6617-5803-2546-D66B7FCF3EF9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0DC296B1-5F07-2152-B5F9-92BA373C7BBC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E2BF1DF9-E5D6-D187-4DF4-94B688B84C61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B2F9140B-565E-1B6F-621A-26C6068A21BA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AFF8D970-2F25-8C58-B499-C35B15046E52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3014" name="Tool Calls">
            <a:extLst>
              <a:ext uri="{FF2B5EF4-FFF2-40B4-BE49-F238E27FC236}">
                <a16:creationId xmlns:a16="http://schemas.microsoft.com/office/drawing/2014/main" id="{BC0D7389-4031-C875-8599-0DBE89D3B04F}"/>
              </a:ext>
            </a:extLst>
          </p:cNvPr>
          <p:cNvSpPr/>
          <p:nvPr/>
        </p:nvSpPr>
        <p:spPr>
          <a:xfrm>
            <a:off x="7907514" y="5003800"/>
            <a:ext cx="3088733" cy="508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500" b="1" dirty="0" err="1">
                <a:solidFill>
                  <a:srgbClr val="0F172A"/>
                </a:solidFill>
                <a:latin typeface="Montserrat"/>
              </a:rPr>
              <a:t>ToolRequest</a:t>
            </a:r>
            <a:r>
              <a:rPr lang="en-US" sz="1500" b="1" dirty="0">
                <a:solidFill>
                  <a:srgbClr val="0F172A"/>
                </a:solidFill>
                <a:latin typeface="Montserrat"/>
              </a:rPr>
              <a:t>(tool[‘params’])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56452ABC-15EF-E194-2424-9DF6059BC169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AA92512A-AD16-8B35-BD1A-FAC5F6E20AB0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EE07E804-3106-A6AB-F57D-4A0772D613A8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D5A9F3-577D-94C3-1AA1-BD5AA23A1E28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91091433-49C9-A299-8C72-AAB6233AF8C7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sp>
        <p:nvSpPr>
          <p:cNvPr id="3004" name="Input Prompt">
            <a:extLst>
              <a:ext uri="{FF2B5EF4-FFF2-40B4-BE49-F238E27FC236}">
                <a16:creationId xmlns:a16="http://schemas.microsoft.com/office/drawing/2014/main" id="{97321B91-C6CA-F8FF-9F76-E6A549FC6039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EFBE77D5-D04E-1EB6-8036-B662D73B1DDE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5CC778B5-AFB4-9FF1-DAC5-5F9977307C1C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A6FC12-4030-59F0-EC5D-9007034F5B0F}"/>
              </a:ext>
            </a:extLst>
          </p:cNvPr>
          <p:cNvSpPr txBox="1"/>
          <p:nvPr/>
        </p:nvSpPr>
        <p:spPr>
          <a:xfrm>
            <a:off x="9917976" y="3802092"/>
            <a:ext cx="146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Model emits tool calls</a:t>
            </a:r>
          </a:p>
        </p:txBody>
      </p:sp>
      <p:cxnSp>
        <p:nvCxnSpPr>
          <p:cNvPr id="23" name="Env to Agent Arrow">
            <a:extLst>
              <a:ext uri="{FF2B5EF4-FFF2-40B4-BE49-F238E27FC236}">
                <a16:creationId xmlns:a16="http://schemas.microsoft.com/office/drawing/2014/main" id="{39AF82C6-2FD8-EC64-8B2F-9742BB683AC8}"/>
              </a:ext>
            </a:extLst>
          </p:cNvPr>
          <p:cNvCxnSpPr>
            <a:cxnSpLocks/>
          </p:cNvCxnSpPr>
          <p:nvPr/>
        </p:nvCxnSpPr>
        <p:spPr>
          <a:xfrm>
            <a:off x="9451880" y="3580841"/>
            <a:ext cx="0" cy="116419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67D552-DE4A-C9C9-281E-2521EAB485C2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2843832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0EEC3-3BE9-4E96-332F-B492BC0C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118F3DBB-5486-BFDF-6723-A2DC159328AC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2764DF14-F525-2F1F-282E-942FA9C64D6D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217FC445-5830-12BD-9DF6-0C559973D804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DE82A225-2515-FCA1-5E8E-1C0C8C9180F7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25B2E53E-18E0-6E6E-2C30-58F9262C2989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6C8838AD-33BF-6FC5-2E20-29C199E455F8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F5999AA0-F5B1-979C-1AA7-8F237120EE1B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3014" name="Tool Calls">
            <a:extLst>
              <a:ext uri="{FF2B5EF4-FFF2-40B4-BE49-F238E27FC236}">
                <a16:creationId xmlns:a16="http://schemas.microsoft.com/office/drawing/2014/main" id="{24FED3B3-6C7F-92F2-D6C5-142CE0269349}"/>
              </a:ext>
            </a:extLst>
          </p:cNvPr>
          <p:cNvSpPr/>
          <p:nvPr/>
        </p:nvSpPr>
        <p:spPr>
          <a:xfrm>
            <a:off x="7907514" y="5003800"/>
            <a:ext cx="3088733" cy="508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500" b="1" dirty="0" err="1">
                <a:solidFill>
                  <a:srgbClr val="0F172A"/>
                </a:solidFill>
                <a:latin typeface="Montserrat"/>
              </a:rPr>
              <a:t>ToolRequest</a:t>
            </a:r>
            <a:r>
              <a:rPr lang="en-US" sz="1500" b="1" dirty="0">
                <a:solidFill>
                  <a:srgbClr val="0F172A"/>
                </a:solidFill>
                <a:latin typeface="Montserrat"/>
              </a:rPr>
              <a:t>(tool[‘params’])</a:t>
            </a:r>
          </a:p>
        </p:txBody>
      </p:sp>
      <p:cxnSp>
        <p:nvCxnSpPr>
          <p:cNvPr id="3016" name="TC to Env Arrow">
            <a:extLst>
              <a:ext uri="{FF2B5EF4-FFF2-40B4-BE49-F238E27FC236}">
                <a16:creationId xmlns:a16="http://schemas.microsoft.com/office/drawing/2014/main" id="{CCB1EC76-1E42-5352-4197-DF61F6968AF7}"/>
              </a:ext>
            </a:extLst>
          </p:cNvPr>
          <p:cNvCxnSpPr>
            <a:cxnSpLocks/>
          </p:cNvCxnSpPr>
          <p:nvPr/>
        </p:nvCxnSpPr>
        <p:spPr>
          <a:xfrm flipH="1">
            <a:off x="2799471" y="5283200"/>
            <a:ext cx="4881489" cy="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7" name="TC Arrow Label">
            <a:extLst>
              <a:ext uri="{FF2B5EF4-FFF2-40B4-BE49-F238E27FC236}">
                <a16:creationId xmlns:a16="http://schemas.microsoft.com/office/drawing/2014/main" id="{A3DEFA85-A19E-C98D-2B09-9B52B0D75FFF}"/>
              </a:ext>
            </a:extLst>
          </p:cNvPr>
          <p:cNvSpPr/>
          <p:nvPr/>
        </p:nvSpPr>
        <p:spPr>
          <a:xfrm>
            <a:off x="2695331" y="4902200"/>
            <a:ext cx="10795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Actions</a:t>
            </a:r>
          </a:p>
        </p:txBody>
      </p:sp>
      <p:cxnSp>
        <p:nvCxnSpPr>
          <p:cNvPr id="3018" name="Env to Agent Arrow">
            <a:extLst>
              <a:ext uri="{FF2B5EF4-FFF2-40B4-BE49-F238E27FC236}">
                <a16:creationId xmlns:a16="http://schemas.microsoft.com/office/drawing/2014/main" id="{02D8B306-003D-8997-FB25-AE8CED089B33}"/>
              </a:ext>
            </a:extLst>
          </p:cNvPr>
          <p:cNvCxnSpPr>
            <a:cxnSpLocks/>
          </p:cNvCxnSpPr>
          <p:nvPr/>
        </p:nvCxnSpPr>
        <p:spPr>
          <a:xfrm>
            <a:off x="2695331" y="3310986"/>
            <a:ext cx="1114669" cy="3714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9" name="Obs Arrow Label">
            <a:extLst>
              <a:ext uri="{FF2B5EF4-FFF2-40B4-BE49-F238E27FC236}">
                <a16:creationId xmlns:a16="http://schemas.microsoft.com/office/drawing/2014/main" id="{D80377DE-3E21-85A0-26D1-4EB2E51EF607}"/>
              </a:ext>
            </a:extLst>
          </p:cNvPr>
          <p:cNvSpPr/>
          <p:nvPr/>
        </p:nvSpPr>
        <p:spPr>
          <a:xfrm>
            <a:off x="2590800" y="3022600"/>
            <a:ext cx="11684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New Obs.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0BAEFCF5-AA6E-7EED-FA19-F38D360ABFE4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5" name="Input Observations">
            <a:extLst>
              <a:ext uri="{FF2B5EF4-FFF2-40B4-BE49-F238E27FC236}">
                <a16:creationId xmlns:a16="http://schemas.microsoft.com/office/drawing/2014/main" id="{41D6DBF7-442A-E5D2-838C-0D82C244FCA8}"/>
              </a:ext>
            </a:extLst>
          </p:cNvPr>
          <p:cNvSpPr/>
          <p:nvPr/>
        </p:nvSpPr>
        <p:spPr>
          <a:xfrm>
            <a:off x="1016000" y="3035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Result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5F5E5BA8-1429-E1FD-FBA1-02AE6585E812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3474B48A-D8FC-D17A-6CB4-276E5BDDB358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77D4930-B4AD-ECF7-218E-B00091D81B1E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A21BB5EF-ED2D-FAD9-553F-019AAF113A39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cxnSp>
        <p:nvCxnSpPr>
          <p:cNvPr id="16" name="Env to Agent Arrow">
            <a:extLst>
              <a:ext uri="{FF2B5EF4-FFF2-40B4-BE49-F238E27FC236}">
                <a16:creationId xmlns:a16="http://schemas.microsoft.com/office/drawing/2014/main" id="{82C83426-DC0A-95B1-E243-0D5D824DBB68}"/>
              </a:ext>
            </a:extLst>
          </p:cNvPr>
          <p:cNvCxnSpPr>
            <a:cxnSpLocks/>
          </p:cNvCxnSpPr>
          <p:nvPr/>
        </p:nvCxnSpPr>
        <p:spPr>
          <a:xfrm flipV="1">
            <a:off x="1701800" y="453707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cxnSp>
        <p:nvCxnSpPr>
          <p:cNvPr id="18" name="Env to Agent Arrow">
            <a:extLst>
              <a:ext uri="{FF2B5EF4-FFF2-40B4-BE49-F238E27FC236}">
                <a16:creationId xmlns:a16="http://schemas.microsoft.com/office/drawing/2014/main" id="{CDDC2EF0-C97C-8DBE-2FE5-52F20E8C69F6}"/>
              </a:ext>
            </a:extLst>
          </p:cNvPr>
          <p:cNvCxnSpPr>
            <a:cxnSpLocks/>
          </p:cNvCxnSpPr>
          <p:nvPr/>
        </p:nvCxnSpPr>
        <p:spPr>
          <a:xfrm flipV="1">
            <a:off x="1699065" y="355155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04" name="Input Prompt">
            <a:extLst>
              <a:ext uri="{FF2B5EF4-FFF2-40B4-BE49-F238E27FC236}">
                <a16:creationId xmlns:a16="http://schemas.microsoft.com/office/drawing/2014/main" id="{09B92B2C-C8E4-5393-FA77-19240579BE8A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B5DACE29-6F35-C2B3-DA35-D200C3529A40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E5344545-EC18-F7E7-C6E8-48AC763CF90B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3007" name="Input Observations">
            <a:extLst>
              <a:ext uri="{FF2B5EF4-FFF2-40B4-BE49-F238E27FC236}">
                <a16:creationId xmlns:a16="http://schemas.microsoft.com/office/drawing/2014/main" id="{BE766223-B524-E8DE-7AE4-FD8372157A76}"/>
              </a:ext>
            </a:extLst>
          </p:cNvPr>
          <p:cNvSpPr/>
          <p:nvPr/>
        </p:nvSpPr>
        <p:spPr>
          <a:xfrm>
            <a:off x="4387731" y="34145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A0A0B6-20D9-3617-4E76-CF1695F78747}"/>
              </a:ext>
            </a:extLst>
          </p:cNvPr>
          <p:cNvSpPr txBox="1"/>
          <p:nvPr/>
        </p:nvSpPr>
        <p:spPr>
          <a:xfrm>
            <a:off x="9917976" y="3802092"/>
            <a:ext cx="146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Model emits tool calls</a:t>
            </a:r>
          </a:p>
        </p:txBody>
      </p:sp>
      <p:cxnSp>
        <p:nvCxnSpPr>
          <p:cNvPr id="23" name="Env to Agent Arrow">
            <a:extLst>
              <a:ext uri="{FF2B5EF4-FFF2-40B4-BE49-F238E27FC236}">
                <a16:creationId xmlns:a16="http://schemas.microsoft.com/office/drawing/2014/main" id="{DB6028B7-95E2-FD88-518E-43FCBB3565A0}"/>
              </a:ext>
            </a:extLst>
          </p:cNvPr>
          <p:cNvCxnSpPr>
            <a:cxnSpLocks/>
          </p:cNvCxnSpPr>
          <p:nvPr/>
        </p:nvCxnSpPr>
        <p:spPr>
          <a:xfrm>
            <a:off x="9451880" y="3580841"/>
            <a:ext cx="0" cy="116419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4D9BABA-B0D8-87BF-C0E4-3DDA5E34E846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3148965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6451-66A9-32FB-1A8C-C7ECDD60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E86C7DB3-CA4D-9AD2-5ECD-7CDE5FE480B9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03941081-47D2-2C03-EA84-076C7F0FDAD4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F6FE4A72-30A2-B22F-2951-77A06FAD0C43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2BE78981-5509-AB47-5F87-E0DF4D94D739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5D0BDD7C-AA34-1F96-74B1-95F4AE78B636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AAE3DBCA-7582-1140-126E-121752282C19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DE577298-5943-382B-76F5-D80A3ADE2CBA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3014" name="Tool Calls">
            <a:extLst>
              <a:ext uri="{FF2B5EF4-FFF2-40B4-BE49-F238E27FC236}">
                <a16:creationId xmlns:a16="http://schemas.microsoft.com/office/drawing/2014/main" id="{1C3BED83-36CB-EB00-E8AD-A93604C6088F}"/>
              </a:ext>
            </a:extLst>
          </p:cNvPr>
          <p:cNvSpPr/>
          <p:nvPr/>
        </p:nvSpPr>
        <p:spPr>
          <a:xfrm>
            <a:off x="7907514" y="5003800"/>
            <a:ext cx="3088733" cy="508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500" b="1" dirty="0" err="1">
                <a:solidFill>
                  <a:srgbClr val="0F172A"/>
                </a:solidFill>
                <a:latin typeface="Montserrat"/>
              </a:rPr>
              <a:t>ToolRequest</a:t>
            </a:r>
            <a:r>
              <a:rPr lang="en-US" sz="1500" b="1" dirty="0">
                <a:solidFill>
                  <a:srgbClr val="0F172A"/>
                </a:solidFill>
                <a:latin typeface="Montserrat"/>
              </a:rPr>
              <a:t>(tool[‘params’])</a:t>
            </a:r>
          </a:p>
        </p:txBody>
      </p:sp>
      <p:cxnSp>
        <p:nvCxnSpPr>
          <p:cNvPr id="3016" name="TC to Env Arrow">
            <a:extLst>
              <a:ext uri="{FF2B5EF4-FFF2-40B4-BE49-F238E27FC236}">
                <a16:creationId xmlns:a16="http://schemas.microsoft.com/office/drawing/2014/main" id="{AC17DA7E-164D-619C-E866-F54E125E8661}"/>
              </a:ext>
            </a:extLst>
          </p:cNvPr>
          <p:cNvCxnSpPr>
            <a:cxnSpLocks/>
          </p:cNvCxnSpPr>
          <p:nvPr/>
        </p:nvCxnSpPr>
        <p:spPr>
          <a:xfrm flipH="1">
            <a:off x="2799471" y="5283200"/>
            <a:ext cx="4881489" cy="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7" name="TC Arrow Label">
            <a:extLst>
              <a:ext uri="{FF2B5EF4-FFF2-40B4-BE49-F238E27FC236}">
                <a16:creationId xmlns:a16="http://schemas.microsoft.com/office/drawing/2014/main" id="{24A90EA0-0066-5DA7-4B84-92D8F2D1559D}"/>
              </a:ext>
            </a:extLst>
          </p:cNvPr>
          <p:cNvSpPr/>
          <p:nvPr/>
        </p:nvSpPr>
        <p:spPr>
          <a:xfrm>
            <a:off x="2695331" y="4902200"/>
            <a:ext cx="10795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Actions</a:t>
            </a:r>
          </a:p>
        </p:txBody>
      </p:sp>
      <p:cxnSp>
        <p:nvCxnSpPr>
          <p:cNvPr id="3018" name="Env to Agent Arrow">
            <a:extLst>
              <a:ext uri="{FF2B5EF4-FFF2-40B4-BE49-F238E27FC236}">
                <a16:creationId xmlns:a16="http://schemas.microsoft.com/office/drawing/2014/main" id="{1C85339E-9AB9-10AF-66FC-333CACFD9259}"/>
              </a:ext>
            </a:extLst>
          </p:cNvPr>
          <p:cNvCxnSpPr>
            <a:cxnSpLocks/>
          </p:cNvCxnSpPr>
          <p:nvPr/>
        </p:nvCxnSpPr>
        <p:spPr>
          <a:xfrm>
            <a:off x="2695331" y="3310986"/>
            <a:ext cx="1114669" cy="3714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9" name="Obs Arrow Label">
            <a:extLst>
              <a:ext uri="{FF2B5EF4-FFF2-40B4-BE49-F238E27FC236}">
                <a16:creationId xmlns:a16="http://schemas.microsoft.com/office/drawing/2014/main" id="{98C708BC-9F79-E294-03AB-CE8BEE37546F}"/>
              </a:ext>
            </a:extLst>
          </p:cNvPr>
          <p:cNvSpPr/>
          <p:nvPr/>
        </p:nvSpPr>
        <p:spPr>
          <a:xfrm>
            <a:off x="2590800" y="3022600"/>
            <a:ext cx="11684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New Obs.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87FBF7C6-2FAC-EAC4-D159-A93EF7AB22FB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5" name="Input Observations">
            <a:extLst>
              <a:ext uri="{FF2B5EF4-FFF2-40B4-BE49-F238E27FC236}">
                <a16:creationId xmlns:a16="http://schemas.microsoft.com/office/drawing/2014/main" id="{F028B38B-8864-6D40-2F94-50AC8C4DE23C}"/>
              </a:ext>
            </a:extLst>
          </p:cNvPr>
          <p:cNvSpPr/>
          <p:nvPr/>
        </p:nvSpPr>
        <p:spPr>
          <a:xfrm>
            <a:off x="1016000" y="3035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Result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B66C0B0F-0C2A-F479-5DBB-0F76AD959EEE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073F5904-92A0-C0E7-BBF6-F88AAFAB99CE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4B8282-B136-EF2A-342D-5B0ACD2B7174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F5336EB5-F19E-0D9A-3D03-C5EB10444758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cxnSp>
        <p:nvCxnSpPr>
          <p:cNvPr id="16" name="Env to Agent Arrow">
            <a:extLst>
              <a:ext uri="{FF2B5EF4-FFF2-40B4-BE49-F238E27FC236}">
                <a16:creationId xmlns:a16="http://schemas.microsoft.com/office/drawing/2014/main" id="{411D7A6A-D2A7-6703-0F0F-E87F5156B159}"/>
              </a:ext>
            </a:extLst>
          </p:cNvPr>
          <p:cNvCxnSpPr>
            <a:cxnSpLocks/>
          </p:cNvCxnSpPr>
          <p:nvPr/>
        </p:nvCxnSpPr>
        <p:spPr>
          <a:xfrm flipV="1">
            <a:off x="1701800" y="453707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cxnSp>
        <p:nvCxnSpPr>
          <p:cNvPr id="18" name="Env to Agent Arrow">
            <a:extLst>
              <a:ext uri="{FF2B5EF4-FFF2-40B4-BE49-F238E27FC236}">
                <a16:creationId xmlns:a16="http://schemas.microsoft.com/office/drawing/2014/main" id="{45180206-290D-F1FB-F1E8-063957EC4166}"/>
              </a:ext>
            </a:extLst>
          </p:cNvPr>
          <p:cNvCxnSpPr>
            <a:cxnSpLocks/>
          </p:cNvCxnSpPr>
          <p:nvPr/>
        </p:nvCxnSpPr>
        <p:spPr>
          <a:xfrm flipV="1">
            <a:off x="1699065" y="355155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04" name="Input Prompt">
            <a:extLst>
              <a:ext uri="{FF2B5EF4-FFF2-40B4-BE49-F238E27FC236}">
                <a16:creationId xmlns:a16="http://schemas.microsoft.com/office/drawing/2014/main" id="{D293B96F-D759-DA6B-5D4F-FDF631EA59E7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BBB3DC07-819A-85AB-B4F0-5348B0577278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B473D1B2-E798-60B0-50DA-2D3CF1712DE2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3007" name="Input Observations">
            <a:extLst>
              <a:ext uri="{FF2B5EF4-FFF2-40B4-BE49-F238E27FC236}">
                <a16:creationId xmlns:a16="http://schemas.microsoft.com/office/drawing/2014/main" id="{14D492D0-C10D-A270-1F0E-1395151F821B}"/>
              </a:ext>
            </a:extLst>
          </p:cNvPr>
          <p:cNvSpPr/>
          <p:nvPr/>
        </p:nvSpPr>
        <p:spPr>
          <a:xfrm>
            <a:off x="4387731" y="34145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A2966A-B9B8-6EB9-823B-5ACA79B448C5}"/>
              </a:ext>
            </a:extLst>
          </p:cNvPr>
          <p:cNvSpPr txBox="1"/>
          <p:nvPr/>
        </p:nvSpPr>
        <p:spPr>
          <a:xfrm>
            <a:off x="9917976" y="3802092"/>
            <a:ext cx="146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Model emits tool calls</a:t>
            </a:r>
          </a:p>
        </p:txBody>
      </p:sp>
      <p:cxnSp>
        <p:nvCxnSpPr>
          <p:cNvPr id="23" name="Env to Agent Arrow">
            <a:extLst>
              <a:ext uri="{FF2B5EF4-FFF2-40B4-BE49-F238E27FC236}">
                <a16:creationId xmlns:a16="http://schemas.microsoft.com/office/drawing/2014/main" id="{07AB5AE4-9C95-9790-0A37-03DE943D8476}"/>
              </a:ext>
            </a:extLst>
          </p:cNvPr>
          <p:cNvCxnSpPr>
            <a:cxnSpLocks/>
          </p:cNvCxnSpPr>
          <p:nvPr/>
        </p:nvCxnSpPr>
        <p:spPr>
          <a:xfrm>
            <a:off x="9451880" y="3580841"/>
            <a:ext cx="0" cy="116419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6" name="Input Observations">
            <a:extLst>
              <a:ext uri="{FF2B5EF4-FFF2-40B4-BE49-F238E27FC236}">
                <a16:creationId xmlns:a16="http://schemas.microsoft.com/office/drawing/2014/main" id="{58B21CEE-1CCA-1AFF-41B2-77D6A9CAEC57}"/>
              </a:ext>
            </a:extLst>
          </p:cNvPr>
          <p:cNvSpPr/>
          <p:nvPr/>
        </p:nvSpPr>
        <p:spPr>
          <a:xfrm>
            <a:off x="4387731" y="3894065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CF465-64BE-E89D-DC77-E4DB316B2464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108468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6759A-D315-E291-E19A-24C9C447C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Text">
            <a:extLst>
              <a:ext uri="{FF2B5EF4-FFF2-40B4-BE49-F238E27FC236}">
                <a16:creationId xmlns:a16="http://schemas.microsoft.com/office/drawing/2014/main" id="{E91D92F9-E804-F381-96BF-9584CD572872}"/>
              </a:ext>
            </a:extLst>
          </p:cNvPr>
          <p:cNvSpPr/>
          <p:nvPr/>
        </p:nvSpPr>
        <p:spPr>
          <a:xfrm>
            <a:off x="457200" y="335280"/>
            <a:ext cx="990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anchor="ctr"/>
          <a:lstStyle/>
          <a:p>
            <a:pPr>
              <a:buNone/>
            </a:pPr>
            <a:r>
              <a:rPr lang="en-US" sz="2800" b="1" dirty="0">
                <a:solidFill>
                  <a:srgbClr val="0F172A"/>
                </a:solidFill>
                <a:latin typeface="Montserrat"/>
              </a:rPr>
              <a:t>What is an agent?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93F0C991-2260-527E-31E0-B170A63ECA10}"/>
              </a:ext>
            </a:extLst>
          </p:cNvPr>
          <p:cNvSpPr/>
          <p:nvPr/>
        </p:nvSpPr>
        <p:spPr>
          <a:xfrm>
            <a:off x="457200" y="91440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0" name="Environment Box">
            <a:extLst>
              <a:ext uri="{FF2B5EF4-FFF2-40B4-BE49-F238E27FC236}">
                <a16:creationId xmlns:a16="http://schemas.microsoft.com/office/drawing/2014/main" id="{E985D296-2048-2BE0-E459-CAB8E602DDB9}"/>
              </a:ext>
            </a:extLst>
          </p:cNvPr>
          <p:cNvSpPr/>
          <p:nvPr/>
        </p:nvSpPr>
        <p:spPr>
          <a:xfrm>
            <a:off x="812800" y="1651000"/>
            <a:ext cx="1778000" cy="457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CBD5E1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2004" name="Agent Box">
            <a:extLst>
              <a:ext uri="{FF2B5EF4-FFF2-40B4-BE49-F238E27FC236}">
                <a16:creationId xmlns:a16="http://schemas.microsoft.com/office/drawing/2014/main" id="{EC6E7C45-1328-F6A1-40E2-8909CFEBC259}"/>
              </a:ext>
            </a:extLst>
          </p:cNvPr>
          <p:cNvSpPr/>
          <p:nvPr/>
        </p:nvSpPr>
        <p:spPr>
          <a:xfrm>
            <a:off x="3867346" y="1651000"/>
            <a:ext cx="812800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2540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endParaRPr/>
          </a:p>
        </p:txBody>
      </p:sp>
      <p:sp>
        <p:nvSpPr>
          <p:cNvPr id="3000" name="Env Label">
            <a:extLst>
              <a:ext uri="{FF2B5EF4-FFF2-40B4-BE49-F238E27FC236}">
                <a16:creationId xmlns:a16="http://schemas.microsoft.com/office/drawing/2014/main" id="{FF4A4E20-EE1D-F12C-975E-2A27949B387B}"/>
              </a:ext>
            </a:extLst>
          </p:cNvPr>
          <p:cNvSpPr/>
          <p:nvPr/>
        </p:nvSpPr>
        <p:spPr>
          <a:xfrm>
            <a:off x="812800" y="1701800"/>
            <a:ext cx="177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/>
              </a:rPr>
              <a:t>Environment</a:t>
            </a:r>
          </a:p>
        </p:txBody>
      </p:sp>
      <p:sp>
        <p:nvSpPr>
          <p:cNvPr id="3003" name="Agent Label">
            <a:extLst>
              <a:ext uri="{FF2B5EF4-FFF2-40B4-BE49-F238E27FC236}">
                <a16:creationId xmlns:a16="http://schemas.microsoft.com/office/drawing/2014/main" id="{323114C0-8186-622A-15B7-6B8960767D94}"/>
              </a:ext>
            </a:extLst>
          </p:cNvPr>
          <p:cNvSpPr/>
          <p:nvPr/>
        </p:nvSpPr>
        <p:spPr>
          <a:xfrm>
            <a:off x="6790999" y="1746873"/>
            <a:ext cx="8128000" cy="4064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800" b="1" dirty="0">
                <a:solidFill>
                  <a:srgbClr val="3B82F6"/>
                </a:solidFill>
                <a:latin typeface="Montserrat"/>
              </a:rPr>
              <a:t>Agent Harness</a:t>
            </a:r>
          </a:p>
        </p:txBody>
      </p:sp>
      <p:sp>
        <p:nvSpPr>
          <p:cNvPr id="3012" name="LLM Box">
            <a:extLst>
              <a:ext uri="{FF2B5EF4-FFF2-40B4-BE49-F238E27FC236}">
                <a16:creationId xmlns:a16="http://schemas.microsoft.com/office/drawing/2014/main" id="{F5AA4B1D-F9AF-97DA-65B5-E7DC48669F9A}"/>
              </a:ext>
            </a:extLst>
          </p:cNvPr>
          <p:cNvSpPr/>
          <p:nvPr/>
        </p:nvSpPr>
        <p:spPr>
          <a:xfrm>
            <a:off x="8239744" y="2620794"/>
            <a:ext cx="2286000" cy="6985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  <a:latin typeface="Montserrat"/>
              </a:rPr>
              <a:t>LLM</a:t>
            </a:r>
          </a:p>
        </p:txBody>
      </p:sp>
      <p:sp>
        <p:nvSpPr>
          <p:cNvPr id="3014" name="Tool Calls">
            <a:extLst>
              <a:ext uri="{FF2B5EF4-FFF2-40B4-BE49-F238E27FC236}">
                <a16:creationId xmlns:a16="http://schemas.microsoft.com/office/drawing/2014/main" id="{939A477E-DE2B-BB71-C489-DB6F79229AAC}"/>
              </a:ext>
            </a:extLst>
          </p:cNvPr>
          <p:cNvSpPr/>
          <p:nvPr/>
        </p:nvSpPr>
        <p:spPr>
          <a:xfrm>
            <a:off x="7907514" y="5003800"/>
            <a:ext cx="3088733" cy="5080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500" b="1" dirty="0" err="1">
                <a:solidFill>
                  <a:srgbClr val="0F172A"/>
                </a:solidFill>
                <a:latin typeface="Montserrat"/>
              </a:rPr>
              <a:t>ToolRequest</a:t>
            </a:r>
            <a:r>
              <a:rPr lang="en-US" sz="1500" b="1" dirty="0">
                <a:solidFill>
                  <a:srgbClr val="0F172A"/>
                </a:solidFill>
                <a:latin typeface="Montserrat"/>
              </a:rPr>
              <a:t>(tool[‘params’])</a:t>
            </a:r>
          </a:p>
        </p:txBody>
      </p:sp>
      <p:cxnSp>
        <p:nvCxnSpPr>
          <p:cNvPr id="3016" name="TC to Env Arrow">
            <a:extLst>
              <a:ext uri="{FF2B5EF4-FFF2-40B4-BE49-F238E27FC236}">
                <a16:creationId xmlns:a16="http://schemas.microsoft.com/office/drawing/2014/main" id="{87890BE4-4964-6FDD-CFF9-F2DEED3B941B}"/>
              </a:ext>
            </a:extLst>
          </p:cNvPr>
          <p:cNvCxnSpPr>
            <a:cxnSpLocks/>
          </p:cNvCxnSpPr>
          <p:nvPr/>
        </p:nvCxnSpPr>
        <p:spPr>
          <a:xfrm flipH="1">
            <a:off x="2799471" y="5283200"/>
            <a:ext cx="4881489" cy="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7" name="TC Arrow Label">
            <a:extLst>
              <a:ext uri="{FF2B5EF4-FFF2-40B4-BE49-F238E27FC236}">
                <a16:creationId xmlns:a16="http://schemas.microsoft.com/office/drawing/2014/main" id="{4E96815E-A799-F316-EA75-C355F40358C1}"/>
              </a:ext>
            </a:extLst>
          </p:cNvPr>
          <p:cNvSpPr/>
          <p:nvPr/>
        </p:nvSpPr>
        <p:spPr>
          <a:xfrm>
            <a:off x="2695331" y="4902200"/>
            <a:ext cx="10795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Actions</a:t>
            </a:r>
          </a:p>
        </p:txBody>
      </p:sp>
      <p:cxnSp>
        <p:nvCxnSpPr>
          <p:cNvPr id="3018" name="Env to Agent Arrow">
            <a:extLst>
              <a:ext uri="{FF2B5EF4-FFF2-40B4-BE49-F238E27FC236}">
                <a16:creationId xmlns:a16="http://schemas.microsoft.com/office/drawing/2014/main" id="{BA6F48FE-FD49-701A-97C6-CFB5D2A45A8E}"/>
              </a:ext>
            </a:extLst>
          </p:cNvPr>
          <p:cNvCxnSpPr>
            <a:cxnSpLocks/>
          </p:cNvCxnSpPr>
          <p:nvPr/>
        </p:nvCxnSpPr>
        <p:spPr>
          <a:xfrm>
            <a:off x="2695331" y="3310986"/>
            <a:ext cx="1114669" cy="3714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19" name="Obs Arrow Label">
            <a:extLst>
              <a:ext uri="{FF2B5EF4-FFF2-40B4-BE49-F238E27FC236}">
                <a16:creationId xmlns:a16="http://schemas.microsoft.com/office/drawing/2014/main" id="{6E0AA3DE-00AD-0DF2-B53D-D747F9D511D4}"/>
              </a:ext>
            </a:extLst>
          </p:cNvPr>
          <p:cNvSpPr/>
          <p:nvPr/>
        </p:nvSpPr>
        <p:spPr>
          <a:xfrm>
            <a:off x="2590800" y="3022600"/>
            <a:ext cx="1168400" cy="254000"/>
          </a:xfrm>
          <a:prstGeom prst="roundRect">
            <a:avLst>
              <a:gd name="adj" fmla="val 10000"/>
            </a:avLst>
          </a:prstGeom>
          <a:noFill/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34155"/>
                </a:solidFill>
                <a:latin typeface="Montserrat" pitchFamily="2" charset="77"/>
              </a:rPr>
              <a:t>New Obs.</a:t>
            </a:r>
          </a:p>
        </p:txBody>
      </p:sp>
      <p:sp>
        <p:nvSpPr>
          <p:cNvPr id="4" name="Input Tools">
            <a:extLst>
              <a:ext uri="{FF2B5EF4-FFF2-40B4-BE49-F238E27FC236}">
                <a16:creationId xmlns:a16="http://schemas.microsoft.com/office/drawing/2014/main" id="{EDD35150-CC1D-273C-6BF9-DDA457BC3927}"/>
              </a:ext>
            </a:extLst>
          </p:cNvPr>
          <p:cNvSpPr/>
          <p:nvPr/>
        </p:nvSpPr>
        <p:spPr>
          <a:xfrm>
            <a:off x="1016000" y="50292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functions</a:t>
            </a:r>
          </a:p>
        </p:txBody>
      </p:sp>
      <p:sp>
        <p:nvSpPr>
          <p:cNvPr id="5" name="Input Observations">
            <a:extLst>
              <a:ext uri="{FF2B5EF4-FFF2-40B4-BE49-F238E27FC236}">
                <a16:creationId xmlns:a16="http://schemas.microsoft.com/office/drawing/2014/main" id="{5633AFE9-0750-652A-A437-C2EF5EFFE3EA}"/>
              </a:ext>
            </a:extLst>
          </p:cNvPr>
          <p:cNvSpPr/>
          <p:nvPr/>
        </p:nvSpPr>
        <p:spPr>
          <a:xfrm>
            <a:off x="1016000" y="3035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Result</a:t>
            </a:r>
          </a:p>
        </p:txBody>
      </p:sp>
      <p:sp>
        <p:nvSpPr>
          <p:cNvPr id="9" name="LLM Box">
            <a:extLst>
              <a:ext uri="{FF2B5EF4-FFF2-40B4-BE49-F238E27FC236}">
                <a16:creationId xmlns:a16="http://schemas.microsoft.com/office/drawing/2014/main" id="{0461748C-8916-7DF9-5594-8E3BEFB4AC8D}"/>
              </a:ext>
            </a:extLst>
          </p:cNvPr>
          <p:cNvSpPr/>
          <p:nvPr/>
        </p:nvSpPr>
        <p:spPr>
          <a:xfrm>
            <a:off x="4060093" y="1781809"/>
            <a:ext cx="2279164" cy="3412491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endParaRPr lang="en-US" sz="1200" b="1" dirty="0">
              <a:solidFill>
                <a:srgbClr val="7C3AED"/>
              </a:solidFill>
              <a:latin typeface="Montserrat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ontserrat"/>
              </a:rPr>
              <a:t>Agent Context/State</a:t>
            </a:r>
          </a:p>
        </p:txBody>
      </p:sp>
      <p:cxnSp>
        <p:nvCxnSpPr>
          <p:cNvPr id="11" name="Env to Agent Arrow">
            <a:extLst>
              <a:ext uri="{FF2B5EF4-FFF2-40B4-BE49-F238E27FC236}">
                <a16:creationId xmlns:a16="http://schemas.microsoft.com/office/drawing/2014/main" id="{40045E27-2338-9E1D-E4D4-F4B099FFAA49}"/>
              </a:ext>
            </a:extLst>
          </p:cNvPr>
          <p:cNvCxnSpPr/>
          <p:nvPr/>
        </p:nvCxnSpPr>
        <p:spPr>
          <a:xfrm>
            <a:off x="6648944" y="2974830"/>
            <a:ext cx="1219200" cy="12700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8AFE97-5CEE-4A57-517F-42FE6174835E}"/>
              </a:ext>
            </a:extLst>
          </p:cNvPr>
          <p:cNvSpPr txBox="1"/>
          <p:nvPr/>
        </p:nvSpPr>
        <p:spPr>
          <a:xfrm>
            <a:off x="6501783" y="2529403"/>
            <a:ext cx="1461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sent to model</a:t>
            </a:r>
          </a:p>
        </p:txBody>
      </p:sp>
      <p:sp>
        <p:nvSpPr>
          <p:cNvPr id="15" name="Input Observations">
            <a:extLst>
              <a:ext uri="{FF2B5EF4-FFF2-40B4-BE49-F238E27FC236}">
                <a16:creationId xmlns:a16="http://schemas.microsoft.com/office/drawing/2014/main" id="{14679363-ED58-F19D-508E-2B03DA9FB997}"/>
              </a:ext>
            </a:extLst>
          </p:cNvPr>
          <p:cNvSpPr/>
          <p:nvPr/>
        </p:nvSpPr>
        <p:spPr>
          <a:xfrm>
            <a:off x="1016000" y="3997300"/>
            <a:ext cx="13716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Environment State</a:t>
            </a:r>
          </a:p>
        </p:txBody>
      </p:sp>
      <p:cxnSp>
        <p:nvCxnSpPr>
          <p:cNvPr id="16" name="Env to Agent Arrow">
            <a:extLst>
              <a:ext uri="{FF2B5EF4-FFF2-40B4-BE49-F238E27FC236}">
                <a16:creationId xmlns:a16="http://schemas.microsoft.com/office/drawing/2014/main" id="{DB9D6C43-992E-5A1C-F488-AFE4570D98F2}"/>
              </a:ext>
            </a:extLst>
          </p:cNvPr>
          <p:cNvCxnSpPr>
            <a:cxnSpLocks/>
          </p:cNvCxnSpPr>
          <p:nvPr/>
        </p:nvCxnSpPr>
        <p:spPr>
          <a:xfrm flipV="1">
            <a:off x="1701800" y="453707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cxnSp>
        <p:nvCxnSpPr>
          <p:cNvPr id="18" name="Env to Agent Arrow">
            <a:extLst>
              <a:ext uri="{FF2B5EF4-FFF2-40B4-BE49-F238E27FC236}">
                <a16:creationId xmlns:a16="http://schemas.microsoft.com/office/drawing/2014/main" id="{CBDBDFE3-0489-11DB-B49D-7F9F9682D2B7}"/>
              </a:ext>
            </a:extLst>
          </p:cNvPr>
          <p:cNvCxnSpPr>
            <a:cxnSpLocks/>
          </p:cNvCxnSpPr>
          <p:nvPr/>
        </p:nvCxnSpPr>
        <p:spPr>
          <a:xfrm flipV="1">
            <a:off x="1699065" y="3551554"/>
            <a:ext cx="0" cy="41592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3004" name="Input Prompt">
            <a:extLst>
              <a:ext uri="{FF2B5EF4-FFF2-40B4-BE49-F238E27FC236}">
                <a16:creationId xmlns:a16="http://schemas.microsoft.com/office/drawing/2014/main" id="{61D8A4D9-73D9-A6E0-278B-CC7D2292DCB9}"/>
              </a:ext>
            </a:extLst>
          </p:cNvPr>
          <p:cNvSpPr/>
          <p:nvPr/>
        </p:nvSpPr>
        <p:spPr>
          <a:xfrm>
            <a:off x="4387731" y="20151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System + User Prompt</a:t>
            </a:r>
          </a:p>
        </p:txBody>
      </p:sp>
      <p:sp>
        <p:nvSpPr>
          <p:cNvPr id="3005" name="Input Skills">
            <a:extLst>
              <a:ext uri="{FF2B5EF4-FFF2-40B4-BE49-F238E27FC236}">
                <a16:creationId xmlns:a16="http://schemas.microsoft.com/office/drawing/2014/main" id="{F357B3AE-5A39-5825-E434-23621C3EEF11}"/>
              </a:ext>
            </a:extLst>
          </p:cNvPr>
          <p:cNvSpPr/>
          <p:nvPr/>
        </p:nvSpPr>
        <p:spPr>
          <a:xfrm>
            <a:off x="4387731" y="2954999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E8F5E9"/>
          </a:solidFill>
          <a:ln w="15240">
            <a:solidFill>
              <a:srgbClr val="4CAF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Skills</a:t>
            </a:r>
          </a:p>
        </p:txBody>
      </p:sp>
      <p:sp>
        <p:nvSpPr>
          <p:cNvPr id="3006" name="Input Tools">
            <a:extLst>
              <a:ext uri="{FF2B5EF4-FFF2-40B4-BE49-F238E27FC236}">
                <a16:creationId xmlns:a16="http://schemas.microsoft.com/office/drawing/2014/main" id="{1E5938E4-4008-AD0C-1524-6A840ECEBD49}"/>
              </a:ext>
            </a:extLst>
          </p:cNvPr>
          <p:cNvSpPr/>
          <p:nvPr/>
        </p:nvSpPr>
        <p:spPr>
          <a:xfrm>
            <a:off x="4387731" y="24874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5240">
            <a:solidFill>
              <a:srgbClr val="FB8C0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Tool listing</a:t>
            </a:r>
          </a:p>
        </p:txBody>
      </p:sp>
      <p:sp>
        <p:nvSpPr>
          <p:cNvPr id="3007" name="Input Observations">
            <a:extLst>
              <a:ext uri="{FF2B5EF4-FFF2-40B4-BE49-F238E27FC236}">
                <a16:creationId xmlns:a16="http://schemas.microsoft.com/office/drawing/2014/main" id="{789F81F3-7D9A-81C6-A04B-CEF4D740BE94}"/>
              </a:ext>
            </a:extLst>
          </p:cNvPr>
          <p:cNvSpPr/>
          <p:nvPr/>
        </p:nvSpPr>
        <p:spPr>
          <a:xfrm>
            <a:off x="4387731" y="341454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CB32FB-14CB-5036-953B-A8AD6DA67455}"/>
              </a:ext>
            </a:extLst>
          </p:cNvPr>
          <p:cNvSpPr txBox="1"/>
          <p:nvPr/>
        </p:nvSpPr>
        <p:spPr>
          <a:xfrm>
            <a:off x="9917976" y="3802092"/>
            <a:ext cx="146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" pitchFamily="2" charset="77"/>
              </a:rPr>
              <a:t>Model emits tool calls</a:t>
            </a:r>
          </a:p>
        </p:txBody>
      </p:sp>
      <p:cxnSp>
        <p:nvCxnSpPr>
          <p:cNvPr id="23" name="Env to Agent Arrow">
            <a:extLst>
              <a:ext uri="{FF2B5EF4-FFF2-40B4-BE49-F238E27FC236}">
                <a16:creationId xmlns:a16="http://schemas.microsoft.com/office/drawing/2014/main" id="{A2553FC6-212D-1414-EA36-FC320D742627}"/>
              </a:ext>
            </a:extLst>
          </p:cNvPr>
          <p:cNvCxnSpPr>
            <a:cxnSpLocks/>
          </p:cNvCxnSpPr>
          <p:nvPr/>
        </p:nvCxnSpPr>
        <p:spPr>
          <a:xfrm>
            <a:off x="9451880" y="3580841"/>
            <a:ext cx="0" cy="1164196"/>
          </a:xfrm>
          <a:prstGeom prst="line">
            <a:avLst/>
          </a:prstGeom>
          <a:ln w="25400">
            <a:solidFill>
              <a:srgbClr val="3B82F6"/>
            </a:solidFill>
            <a:headEnd type="none"/>
            <a:tailEnd type="triangle" w="med" len="med"/>
          </a:ln>
        </p:spPr>
      </p:cxnSp>
      <p:sp>
        <p:nvSpPr>
          <p:cNvPr id="6" name="Input Observations">
            <a:extLst>
              <a:ext uri="{FF2B5EF4-FFF2-40B4-BE49-F238E27FC236}">
                <a16:creationId xmlns:a16="http://schemas.microsoft.com/office/drawing/2014/main" id="{A4179856-B98E-B5ED-8FD9-3AC99BED29BA}"/>
              </a:ext>
            </a:extLst>
          </p:cNvPr>
          <p:cNvSpPr/>
          <p:nvPr/>
        </p:nvSpPr>
        <p:spPr>
          <a:xfrm>
            <a:off x="4387731" y="3894065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2</a:t>
            </a:r>
          </a:p>
        </p:txBody>
      </p:sp>
      <p:sp>
        <p:nvSpPr>
          <p:cNvPr id="7" name="Input Observations">
            <a:extLst>
              <a:ext uri="{FF2B5EF4-FFF2-40B4-BE49-F238E27FC236}">
                <a16:creationId xmlns:a16="http://schemas.microsoft.com/office/drawing/2014/main" id="{BC320171-470C-259E-4590-B63973AF663B}"/>
              </a:ext>
            </a:extLst>
          </p:cNvPr>
          <p:cNvSpPr/>
          <p:nvPr/>
        </p:nvSpPr>
        <p:spPr>
          <a:xfrm>
            <a:off x="4387731" y="4374004"/>
            <a:ext cx="1651000" cy="482600"/>
          </a:xfrm>
          <a:prstGeom prst="roundRect">
            <a:avLst>
              <a:gd name="adj" fmla="val 25000"/>
            </a:avLst>
          </a:prstGeom>
          <a:solidFill>
            <a:srgbClr val="F3E5F5"/>
          </a:solidFill>
          <a:ln w="15240">
            <a:solidFill>
              <a:srgbClr val="AB47BC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/>
              </a:rPr>
              <a:t>Observation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7730D-F763-CFAC-B193-77F519E033A8}"/>
              </a:ext>
            </a:extLst>
          </p:cNvPr>
          <p:cNvSpPr txBox="1"/>
          <p:nvPr/>
        </p:nvSpPr>
        <p:spPr>
          <a:xfrm>
            <a:off x="1109299" y="1119333"/>
            <a:ext cx="1045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Montserrat" pitchFamily="2" charset="77"/>
              </a:rPr>
              <a:t>An </a:t>
            </a:r>
            <a:r>
              <a:rPr lang="en-US" i="1" u="sng" dirty="0">
                <a:latin typeface="Montserrat" pitchFamily="2" charset="77"/>
              </a:rPr>
              <a:t>agent</a:t>
            </a:r>
            <a:r>
              <a:rPr lang="en-US" i="1" dirty="0">
                <a:latin typeface="Montserrat" pitchFamily="2" charset="77"/>
              </a:rPr>
              <a:t> is an LLM running in a loop with access to tools (functions that DO something)</a:t>
            </a:r>
          </a:p>
        </p:txBody>
      </p:sp>
    </p:spTree>
    <p:extLst>
      <p:ext uri="{BB962C8B-B14F-4D97-AF65-F5344CB8AC3E}">
        <p14:creationId xmlns:p14="http://schemas.microsoft.com/office/powerpoint/2010/main" val="335636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B7DD-9D5B-5B07-5C7B-AE8FE8D3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0F0BF-C2A9-4820-48D9-87C6A305BE85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A spectrum of agentic behavior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98A034-5D09-149D-E104-1392B6F91C07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172E84AF-3098-7C6D-7C0D-9C5746EB1C45}"/>
              </a:ext>
            </a:extLst>
          </p:cNvPr>
          <p:cNvSpPr/>
          <p:nvPr/>
        </p:nvSpPr>
        <p:spPr>
          <a:xfrm>
            <a:off x="1713570" y="4036836"/>
            <a:ext cx="8668214" cy="28249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6FB58E65-9482-8552-1CA7-04ADADF90400}"/>
              </a:ext>
            </a:extLst>
          </p:cNvPr>
          <p:cNvSpPr/>
          <p:nvPr/>
        </p:nvSpPr>
        <p:spPr>
          <a:xfrm flipH="1" flipV="1">
            <a:off x="1702418" y="3831061"/>
            <a:ext cx="8679365" cy="282496"/>
          </a:xfrm>
          <a:prstGeom prst="rt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84A0C5-F9EF-8B5C-7899-5F08596788B9}"/>
              </a:ext>
            </a:extLst>
          </p:cNvPr>
          <p:cNvSpPr txBox="1"/>
          <p:nvPr/>
        </p:nvSpPr>
        <p:spPr>
          <a:xfrm>
            <a:off x="1616926" y="4319332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Human involvement/control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415767-65CE-47B1-2476-CD42584EAF55}"/>
              </a:ext>
            </a:extLst>
          </p:cNvPr>
          <p:cNvSpPr txBox="1"/>
          <p:nvPr/>
        </p:nvSpPr>
        <p:spPr>
          <a:xfrm>
            <a:off x="7717864" y="3492508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31C4A7-5FB5-7AE4-0BB9-72A77E14F211}"/>
              </a:ext>
            </a:extLst>
          </p:cNvPr>
          <p:cNvSpPr txBox="1"/>
          <p:nvPr/>
        </p:nvSpPr>
        <p:spPr>
          <a:xfrm>
            <a:off x="1254458" y="2692373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C62FC9-38FD-7320-A3D7-B726607FC75D}"/>
              </a:ext>
            </a:extLst>
          </p:cNvPr>
          <p:cNvSpPr txBox="1"/>
          <p:nvPr/>
        </p:nvSpPr>
        <p:spPr>
          <a:xfrm>
            <a:off x="4806009" y="2692373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79BC1C-DDC8-68DC-682B-131C89E700F6}"/>
              </a:ext>
            </a:extLst>
          </p:cNvPr>
          <p:cNvSpPr txBox="1"/>
          <p:nvPr/>
        </p:nvSpPr>
        <p:spPr>
          <a:xfrm>
            <a:off x="8618426" y="2692373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64698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06E7-B218-A8F5-01E5-7B743842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09D0E-7CC8-AE73-62B4-2BDC6A0560AE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A spectrum of agentic behavior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E4BCF6-C972-D971-C718-CDE8F003134A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723DD172-9187-056A-2728-D81C18C5C51B}"/>
              </a:ext>
            </a:extLst>
          </p:cNvPr>
          <p:cNvSpPr/>
          <p:nvPr/>
        </p:nvSpPr>
        <p:spPr>
          <a:xfrm>
            <a:off x="1713570" y="4036836"/>
            <a:ext cx="8668214" cy="28249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25074EEC-665D-AE02-8C4A-36699F8D49F6}"/>
              </a:ext>
            </a:extLst>
          </p:cNvPr>
          <p:cNvSpPr/>
          <p:nvPr/>
        </p:nvSpPr>
        <p:spPr>
          <a:xfrm flipH="1" flipV="1">
            <a:off x="1702418" y="3831061"/>
            <a:ext cx="8679365" cy="282496"/>
          </a:xfrm>
          <a:prstGeom prst="rt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07BCF-91E0-0278-5349-BC8A5F5CB2A0}"/>
              </a:ext>
            </a:extLst>
          </p:cNvPr>
          <p:cNvSpPr txBox="1"/>
          <p:nvPr/>
        </p:nvSpPr>
        <p:spPr>
          <a:xfrm>
            <a:off x="1616926" y="4319332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Human involvement/control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A8A33-A4EE-FB62-8736-4C4D7FF6BB55}"/>
              </a:ext>
            </a:extLst>
          </p:cNvPr>
          <p:cNvSpPr txBox="1"/>
          <p:nvPr/>
        </p:nvSpPr>
        <p:spPr>
          <a:xfrm>
            <a:off x="7717864" y="3492508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B4BF70-CDEA-CE36-CFF0-9334E8381E2D}"/>
              </a:ext>
            </a:extLst>
          </p:cNvPr>
          <p:cNvSpPr txBox="1"/>
          <p:nvPr/>
        </p:nvSpPr>
        <p:spPr>
          <a:xfrm>
            <a:off x="1254458" y="2692373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2CCFBA-E370-913E-ECDD-BF7B26E6AA0F}"/>
              </a:ext>
            </a:extLst>
          </p:cNvPr>
          <p:cNvSpPr txBox="1"/>
          <p:nvPr/>
        </p:nvSpPr>
        <p:spPr>
          <a:xfrm>
            <a:off x="4806009" y="2692373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3584AF-9619-98FA-45AD-0DBBF2C55E4B}"/>
              </a:ext>
            </a:extLst>
          </p:cNvPr>
          <p:cNvSpPr txBox="1"/>
          <p:nvPr/>
        </p:nvSpPr>
        <p:spPr>
          <a:xfrm>
            <a:off x="8618426" y="2692373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97469-6601-85D4-5C67-310198375334}"/>
              </a:ext>
            </a:extLst>
          </p:cNvPr>
          <p:cNvSpPr txBox="1"/>
          <p:nvPr/>
        </p:nvSpPr>
        <p:spPr>
          <a:xfrm>
            <a:off x="914400" y="5875277"/>
            <a:ext cx="1040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Montserrat" pitchFamily="2" charset="77"/>
              </a:rPr>
              <a:t>Many tools can be used in various modes, these describe not only how a system is built, </a:t>
            </a:r>
          </a:p>
          <a:p>
            <a:pPr algn="ctr"/>
            <a:r>
              <a:rPr lang="en-US" i="1" dirty="0">
                <a:latin typeface="Montserrat" pitchFamily="2" charset="77"/>
              </a:rPr>
              <a:t>but also how you use it</a:t>
            </a:r>
          </a:p>
        </p:txBody>
      </p:sp>
    </p:spTree>
    <p:extLst>
      <p:ext uri="{BB962C8B-B14F-4D97-AF65-F5344CB8AC3E}">
        <p14:creationId xmlns:p14="http://schemas.microsoft.com/office/powerpoint/2010/main" val="872987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C52F-CD71-B680-D354-82DFDBB1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AADC8-991F-4BC0-FA35-CBD57AA66C99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A spectrum of agentic behavior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6A25CD-D188-20A4-E267-7F74B3DB6ACF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EEC418D3-DF12-302D-71DA-6CE859E628D6}"/>
              </a:ext>
            </a:extLst>
          </p:cNvPr>
          <p:cNvSpPr/>
          <p:nvPr/>
        </p:nvSpPr>
        <p:spPr>
          <a:xfrm>
            <a:off x="1713570" y="4036836"/>
            <a:ext cx="8668214" cy="28249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987222FB-5F2B-3EBF-AE88-17E824B43ECB}"/>
              </a:ext>
            </a:extLst>
          </p:cNvPr>
          <p:cNvSpPr/>
          <p:nvPr/>
        </p:nvSpPr>
        <p:spPr>
          <a:xfrm flipH="1" flipV="1">
            <a:off x="1702418" y="3831061"/>
            <a:ext cx="8679365" cy="282496"/>
          </a:xfrm>
          <a:prstGeom prst="rt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EC4D3B-7392-14B8-0A50-FBDF97EFADEA}"/>
              </a:ext>
            </a:extLst>
          </p:cNvPr>
          <p:cNvSpPr txBox="1"/>
          <p:nvPr/>
        </p:nvSpPr>
        <p:spPr>
          <a:xfrm>
            <a:off x="1616926" y="4319332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Human involvement/control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F26017-DB5B-C30A-0746-5FA80B729E96}"/>
              </a:ext>
            </a:extLst>
          </p:cNvPr>
          <p:cNvSpPr txBox="1"/>
          <p:nvPr/>
        </p:nvSpPr>
        <p:spPr>
          <a:xfrm>
            <a:off x="7717864" y="3492508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F2DA6A-D03C-EAAC-88FE-1D3BF44DE7A9}"/>
              </a:ext>
            </a:extLst>
          </p:cNvPr>
          <p:cNvSpPr txBox="1"/>
          <p:nvPr/>
        </p:nvSpPr>
        <p:spPr>
          <a:xfrm>
            <a:off x="1254458" y="2692373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24482B-4B2B-49FF-7EA7-F4D9ABB23481}"/>
              </a:ext>
            </a:extLst>
          </p:cNvPr>
          <p:cNvSpPr txBox="1"/>
          <p:nvPr/>
        </p:nvSpPr>
        <p:spPr>
          <a:xfrm>
            <a:off x="4806009" y="2692373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D36185-5620-3645-091A-654C025A4FC1}"/>
              </a:ext>
            </a:extLst>
          </p:cNvPr>
          <p:cNvSpPr txBox="1"/>
          <p:nvPr/>
        </p:nvSpPr>
        <p:spPr>
          <a:xfrm>
            <a:off x="8618426" y="2692373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97DD7-BD56-C6D8-5D8C-FEBF4E92D842}"/>
              </a:ext>
            </a:extLst>
          </p:cNvPr>
          <p:cNvSpPr txBox="1"/>
          <p:nvPr/>
        </p:nvSpPr>
        <p:spPr>
          <a:xfrm>
            <a:off x="914400" y="5875277"/>
            <a:ext cx="1040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Montserrat" pitchFamily="2" charset="77"/>
              </a:rPr>
              <a:t>Many tools can be used in various modes, these describe not only how a system is built, </a:t>
            </a:r>
          </a:p>
          <a:p>
            <a:pPr algn="ctr"/>
            <a:r>
              <a:rPr lang="en-US" i="1" dirty="0">
                <a:latin typeface="Montserrat" pitchFamily="2" charset="77"/>
              </a:rPr>
              <a:t>but also how you use 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C2A3FC-7A13-9BE8-B0C9-82A8F3086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70" y="1286638"/>
            <a:ext cx="2032000" cy="203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0BE93A-0F28-7907-0C0A-95EAA4BC4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900" y="1291684"/>
            <a:ext cx="2140196" cy="12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19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CD9C-702A-4697-63C1-CE8B0F47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03E18-9AFC-7987-2AF3-6C3093CA48F5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A spectrum of agentic behavior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59F369-7C4A-7B2A-34FA-9D2EF9FD8114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29887B36-A995-8FA9-0BCA-72F7CAF127F9}"/>
              </a:ext>
            </a:extLst>
          </p:cNvPr>
          <p:cNvSpPr/>
          <p:nvPr/>
        </p:nvSpPr>
        <p:spPr>
          <a:xfrm>
            <a:off x="1713570" y="4036836"/>
            <a:ext cx="8668214" cy="28249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D097CB78-1603-5607-5961-D09F3A501E25}"/>
              </a:ext>
            </a:extLst>
          </p:cNvPr>
          <p:cNvSpPr/>
          <p:nvPr/>
        </p:nvSpPr>
        <p:spPr>
          <a:xfrm flipH="1" flipV="1">
            <a:off x="1702418" y="3831061"/>
            <a:ext cx="8679365" cy="282496"/>
          </a:xfrm>
          <a:prstGeom prst="rtTriangl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725E88-B693-AEDF-D1E4-2077A24FC588}"/>
              </a:ext>
            </a:extLst>
          </p:cNvPr>
          <p:cNvSpPr txBox="1"/>
          <p:nvPr/>
        </p:nvSpPr>
        <p:spPr>
          <a:xfrm>
            <a:off x="1616926" y="4319332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Human involvement/control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A7FF6-56CE-1566-33C1-C6F4CBF7566D}"/>
              </a:ext>
            </a:extLst>
          </p:cNvPr>
          <p:cNvSpPr txBox="1"/>
          <p:nvPr/>
        </p:nvSpPr>
        <p:spPr>
          <a:xfrm>
            <a:off x="7717864" y="3492508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B35124-8EED-89B1-B7BC-FD8953CE63BB}"/>
              </a:ext>
            </a:extLst>
          </p:cNvPr>
          <p:cNvSpPr txBox="1"/>
          <p:nvPr/>
        </p:nvSpPr>
        <p:spPr>
          <a:xfrm>
            <a:off x="1254458" y="2692373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F681A2-2DF7-9503-F8B4-C0D43D5DAB54}"/>
              </a:ext>
            </a:extLst>
          </p:cNvPr>
          <p:cNvSpPr txBox="1"/>
          <p:nvPr/>
        </p:nvSpPr>
        <p:spPr>
          <a:xfrm>
            <a:off x="4806009" y="2692373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03F258-2B00-0931-B4E5-66B008FFA080}"/>
              </a:ext>
            </a:extLst>
          </p:cNvPr>
          <p:cNvSpPr txBox="1"/>
          <p:nvPr/>
        </p:nvSpPr>
        <p:spPr>
          <a:xfrm>
            <a:off x="8618426" y="2692373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66E55-9717-BF1D-1EAB-B0C442090F07}"/>
              </a:ext>
            </a:extLst>
          </p:cNvPr>
          <p:cNvSpPr txBox="1"/>
          <p:nvPr/>
        </p:nvSpPr>
        <p:spPr>
          <a:xfrm>
            <a:off x="914400" y="5875277"/>
            <a:ext cx="1040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latin typeface="Montserrat" pitchFamily="2" charset="77"/>
              </a:rPr>
              <a:t>Many tools can be used in various modes, these describe not only how a system is built, </a:t>
            </a:r>
          </a:p>
          <a:p>
            <a:pPr algn="ctr"/>
            <a:r>
              <a:rPr lang="en-US" i="1" dirty="0">
                <a:latin typeface="Montserrat" pitchFamily="2" charset="77"/>
              </a:rPr>
              <a:t>but also how you use 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CE3DF-F677-4ABB-FBAF-A1358B00D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887" y="1186415"/>
            <a:ext cx="2032000" cy="203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5DF540-36D8-943B-624D-D3372D61A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8" y="1344710"/>
            <a:ext cx="2140196" cy="126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34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2468-56B0-1086-ADFC-C83C73C8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217055-9E07-9631-A1C6-26DF6E23C49A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9F2A5D-46B3-F94D-6965-8148D97CB1BA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070E9-FDFE-CD84-0ABC-8B757E2E2487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1F399-8701-2D65-1ACF-343B7DBB1B8A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7730A1-1F81-C987-4547-A819060FC07C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642FF2-0892-1D26-E2A1-0AC577F1C6A5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0C5E54-BC3B-0BCE-1012-608396BF703F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F8D9B5-4A84-30C4-9EFC-72EB4C8BCC3D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EE05889-96A0-892E-D824-6FFE86661A6E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ABA498-7658-E6F0-A0BF-0F2D1CD5CFF7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420398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8EC3-1D07-0E5D-A6BD-7A03B18E3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F08493-C9E0-8B67-4208-CDFF660280B9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BF860F-859C-803D-2418-2EE73229D415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7A519-992A-8B5D-40C0-76DA89D30F43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754CD-7CA8-FD41-E3B0-54A6A8D9B6C0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08C9F-AF51-A828-DCFF-B9165E24828F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A7FA7-E389-AE68-F61A-B8862283084E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FC3027-BD17-0427-3EE6-DD0D03A639F4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6ED221-F58F-0D1D-1DA0-2FDFFAD10687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4EA5167-081E-8F17-A089-130D8D69BD9B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3E364-860B-9958-8E61-680B848C9378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87EF37-BB2F-7024-5036-C8ABA54B375C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2045948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D431-AF2E-446F-10E9-CB3B9AD3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42CE2-45FE-133C-EA9B-EB8FBDFCF411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B46EDA-91BC-A440-BD5C-717AAD4E7366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4A468-E893-6EC7-F023-3C96AAEBF080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4E3A6-5F35-3F85-3D42-8B25B82D2901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D96EA-1021-AB86-DAA4-CC51BA6D4101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52379-9348-67F6-EE96-32CD5185FCE1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F9432C6-C3FE-9772-C84A-999C87282EF1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543CB3-904F-1BA9-ECC9-C603B92075D3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3C49F09-695A-D7A4-E9D1-2850DF3A90B4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6FA7D-9695-7D62-B717-0A197DC29BC9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EFC7F4-B0EB-5633-A61D-78A247D7CA33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75F86-D0D2-AA5B-A70C-D1146AC1644A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184945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86CD-A2D0-EBC6-C9F4-7AA1A607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5A01C3-3475-4A68-53DF-06B454ADF8B4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CB95A-2E95-57C5-D1A1-0CE765B60DBB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CE826-558B-6054-F0DB-51E12A4DEF8E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E7194-71F2-C519-C666-2DECFD46B85F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F8C98-6DC4-D35A-53B6-34205775E48E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238A5-B872-7301-77EB-90B4A2A60D3C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7E859F-2897-C881-9434-6F6A812A48D0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597FD7-C1CF-0FBE-3E18-258770FA79ED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9DC6B61-2DED-4717-E42C-0479132B4BCE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A03C2-869A-BAA2-85FE-13D2D82EDCF9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3C72D3-D5AB-4A66-9DD5-93F1E1C380EA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3E513-8997-BB4C-55B0-D9571BF4B6A2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22B3C8-7217-6FBD-F2A6-3EE96236E5DA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2831824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BA23-8B8B-729F-F3FC-89BD2DC4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0EA2A5-523F-1FBA-6C7E-CA6E0EED4CBA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AFB035-A690-C1D5-B54F-FA5AA4ACF1D8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E401D-7C77-F2A2-BFBE-91F905757D88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77AD4-C044-F05C-F5B2-A451488A7508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9D16E-6585-CB9F-BA9E-C9456F9F26BF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C2977-83EE-169A-EA5D-D9DD5B1B06F9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3DFEEC-B0F3-D427-FE9E-996EB30A905E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DCAC30-2B09-8652-B924-D17265C29AFA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1B176EB-CB38-8392-F8AB-829DC2F01780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0F72E-A934-DBC6-978B-46C7D46F25AC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290F2-BD92-C86E-5FBC-80BF686C1BDF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F2564-59A2-28B2-90C2-AF17E126934D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780627-CC2C-A690-E697-9FBFACD0E68A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CF60B1-5A1F-44B0-0046-B5756296D980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2097625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65F6E-C4F5-FD8B-1312-07D8C4B9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25D30E-4271-5313-B72E-C56C4628B679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2EE21B-2256-808E-0D2B-13209361A155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82ACD-4F1D-AE54-806B-1B33216309CB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316A9-DCCF-8F7E-EC47-3EF6BA6C1F0C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078D7-E8FD-530E-91D4-A561FA0B5518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39E9A9-6CD5-CFBF-F79C-EC0EA5CA8F6C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02F7EC-4B9E-6E69-657C-A972DBAFBEF8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17F22E-7AFA-FF9C-A148-C7AB2E41F5F5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FE30106-8F65-A631-4E8A-FEF9138CF526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03A35F-BAA4-E3B4-C15B-DC52A8F72FBE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11C0A-D394-82C8-4FBC-5E9BF3F84EAE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9CC10-E3A1-A6B0-AD1E-4898DDB4884B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AB7F2B-BBA1-EBCD-B154-60E8ED782A8A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DB891-A709-B7CD-4B04-3FDC5F6DF23D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B3EA79-3DBF-1F24-C997-53126F2D209F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D5D17-103D-B663-2773-54F20A78A598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613213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50111-BB3E-A451-687B-05D8C53B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12418-965B-30B9-9998-C4A5245490B7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615CB7-83EC-B021-9DDF-4989363ED02C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2CE7C-2C16-C113-E088-3B1EB86CE328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4736F-87AF-7F9D-FB4A-637D0972CC75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53F3A-94FB-67F0-0AEC-39DCCCB65009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AFECF-3AA2-F3C2-BFCE-3A6693EC0B53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21E28C2-D191-FBA4-1429-3B439266BD6F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C1A903C-9D3E-6E40-A016-90928D93948F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64AC1A9-1B9B-B26E-954D-89AA5A6300CE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A0F87-8A87-348F-09A4-413F2F3C99A9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43F9A-DB63-763C-91F3-6CBDB78000AF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0AD15D-D9F5-4DDF-0DB5-1F8DE03A0422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81915D-0130-C62E-6677-38C3E603BCFB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6821EA-FDDD-AD25-2E35-5EEE6C2DF5D0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CF8CB-5C2D-DC84-77D6-3AF8CAEDCEB6}"/>
              </a:ext>
            </a:extLst>
          </p:cNvPr>
          <p:cNvSpPr txBox="1"/>
          <p:nvPr/>
        </p:nvSpPr>
        <p:spPr>
          <a:xfrm>
            <a:off x="9317898" y="1856363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Summarizing papers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497415-AE52-0190-905C-0A4A4B2F8244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3894D9-38AB-1DB9-7FE1-8E9886DF1E45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941049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9BB91-38A2-978B-0206-C7D536DB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B5E3B-863D-9546-9544-F1AC4AE7C9AA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62C40-E1FB-2505-431D-E010FBFE59FF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869A3-BCDC-0B52-01F6-BD3ACCA6DFF8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12494-216F-1D09-6BCB-9E2336BC443D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4EB9F-FE78-40CA-45C0-C6B884009204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39F45-E41A-ABE7-C80C-58C751749F8C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07B6B8-5B8C-DD17-E89A-AF2933AD595D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1F6A05-CF4C-93D4-753B-F0B9D6BC7BD8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AD5B9E7-F668-0190-FF1F-7107DDC41EC3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FB4A3-EB40-340B-F759-B9C5BA6145A2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65FE5-0CF0-6E67-5E14-6200E3D3F4E0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D156F-322B-667F-BC5C-13CA6969FECB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D347B-5F52-2A30-10B6-2BDFA15A5792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86C702-E385-3FCA-D16A-41A6D48A76A1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BD71B-FD3B-C460-91D8-F46393692B15}"/>
              </a:ext>
            </a:extLst>
          </p:cNvPr>
          <p:cNvSpPr txBox="1"/>
          <p:nvPr/>
        </p:nvSpPr>
        <p:spPr>
          <a:xfrm>
            <a:off x="8073686" y="1198399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summarizing </a:t>
            </a:r>
          </a:p>
          <a:p>
            <a:pPr algn="ctr"/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emails in a text to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430896-4931-4388-A885-C703E3300886}"/>
              </a:ext>
            </a:extLst>
          </p:cNvPr>
          <p:cNvSpPr txBox="1"/>
          <p:nvPr/>
        </p:nvSpPr>
        <p:spPr>
          <a:xfrm>
            <a:off x="7578395" y="4743456"/>
            <a:ext cx="2888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responding to emails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39383-DED5-B1D1-6DF7-E0F97DBC073A}"/>
              </a:ext>
            </a:extLst>
          </p:cNvPr>
          <p:cNvSpPr txBox="1"/>
          <p:nvPr/>
        </p:nvSpPr>
        <p:spPr>
          <a:xfrm>
            <a:off x="9317898" y="1856363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Summarizing papers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F759AF-7692-2891-706A-FB0B8F8B545E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C16E2F-6C97-3210-D0C3-938CB8B30B2E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2314246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7524-D2FB-C99C-DA9A-2A00872C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EA95F2-3B0C-BB95-B387-219106F0094B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7B934-A1F9-A1F1-4931-559DBB66FDAE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B68E4-EB00-77D1-E2FB-ACDAEA76F532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6057B-8557-1FB6-1881-5E344F8B41E4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83706-F699-63E5-8DE5-6F4DB2B866F8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8E818-8B36-AE5B-B2F2-388A9D00DE1C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EB617A9-F0A1-9FAB-AE1A-21A8B4F38998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8190E0-5328-AF20-12D9-90135D74D0C9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16E2DD-A378-808B-8902-2F591B967B38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906A5D-6B34-79FC-3037-B2F181431358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C7440-80AD-0A1B-E933-3BD22299E791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34A180-B8FE-6F50-FC86-F477FC07C75B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8EDB6F-F3D5-12BC-25C3-0BF23B14A0FE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20086E-ADDE-BAF2-A174-2010199F0D93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29809-CB63-6810-88DB-5230A10A5D73}"/>
              </a:ext>
            </a:extLst>
          </p:cNvPr>
          <p:cNvSpPr txBox="1"/>
          <p:nvPr/>
        </p:nvSpPr>
        <p:spPr>
          <a:xfrm>
            <a:off x="8336028" y="3557972"/>
            <a:ext cx="3466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Design a new analysis strategy or pipeline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0D90F7-8974-FDA1-AC3F-FF4FE1063E54}"/>
              </a:ext>
            </a:extLst>
          </p:cNvPr>
          <p:cNvSpPr txBox="1"/>
          <p:nvPr/>
        </p:nvSpPr>
        <p:spPr>
          <a:xfrm>
            <a:off x="8073686" y="1198399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summarizing </a:t>
            </a:r>
          </a:p>
          <a:p>
            <a:pPr algn="ctr"/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emails in a text to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C8171E-1912-F0D9-C658-BCA39A0CA0F6}"/>
              </a:ext>
            </a:extLst>
          </p:cNvPr>
          <p:cNvSpPr txBox="1"/>
          <p:nvPr/>
        </p:nvSpPr>
        <p:spPr>
          <a:xfrm>
            <a:off x="7578395" y="4743456"/>
            <a:ext cx="2888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responding to emails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585A01-355A-5829-03B3-643C47856677}"/>
              </a:ext>
            </a:extLst>
          </p:cNvPr>
          <p:cNvSpPr txBox="1"/>
          <p:nvPr/>
        </p:nvSpPr>
        <p:spPr>
          <a:xfrm>
            <a:off x="9317898" y="1856363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Summarizing papers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759D80-AB3D-5E7E-1123-2D8C880BC14A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533C4-F191-E10C-481E-4F70FAC16A4D}"/>
              </a:ext>
            </a:extLst>
          </p:cNvPr>
          <p:cNvSpPr txBox="1"/>
          <p:nvPr/>
        </p:nvSpPr>
        <p:spPr>
          <a:xfrm>
            <a:off x="8499508" y="4165739"/>
            <a:ext cx="2491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Interpreting surprising results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C103B9-2348-CFD7-3A96-44C0377665EF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34085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A5CE-9D87-2F7C-8B65-DF4105F6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0E95A-E5DB-81C4-4215-94EE3B54C9FC}"/>
              </a:ext>
            </a:extLst>
          </p:cNvPr>
          <p:cNvSpPr txBox="1"/>
          <p:nvPr/>
        </p:nvSpPr>
        <p:spPr>
          <a:xfrm>
            <a:off x="457200" y="330200"/>
            <a:ext cx="1117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How do I decide what to use for my task?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2B825A-7D0C-32FA-7D7C-39EC64FA9119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C0334-B7E6-5A30-EA70-4795E5FDE0A8}"/>
              </a:ext>
            </a:extLst>
          </p:cNvPr>
          <p:cNvSpPr txBox="1"/>
          <p:nvPr/>
        </p:nvSpPr>
        <p:spPr>
          <a:xfrm>
            <a:off x="2457370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Low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3343D-FC27-CEDC-827F-0FC8609C4911}"/>
              </a:ext>
            </a:extLst>
          </p:cNvPr>
          <p:cNvSpPr txBox="1"/>
          <p:nvPr/>
        </p:nvSpPr>
        <p:spPr>
          <a:xfrm>
            <a:off x="7778187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High variation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A4652-C225-6865-FC9C-5DEEC6F1146E}"/>
              </a:ext>
            </a:extLst>
          </p:cNvPr>
          <p:cNvSpPr txBox="1"/>
          <p:nvPr/>
        </p:nvSpPr>
        <p:spPr>
          <a:xfrm>
            <a:off x="5090932" y="965200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64748B"/>
                </a:solidFill>
                <a:latin typeface="Montserrat"/>
              </a:rPr>
              <a:t>Easy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A0F20-D459-7FAD-9B1B-58C600E85FAB}"/>
              </a:ext>
            </a:extLst>
          </p:cNvPr>
          <p:cNvSpPr txBox="1"/>
          <p:nvPr/>
        </p:nvSpPr>
        <p:spPr>
          <a:xfrm>
            <a:off x="5206678" y="5127263"/>
            <a:ext cx="2286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500" b="1">
                <a:solidFill>
                  <a:srgbClr val="64748B"/>
                </a:solidFill>
                <a:latin typeface="Montserrat"/>
              </a:rPr>
              <a:t>Hard to verify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A2227E-FE7B-B01D-4665-194FCEC19BA5}"/>
              </a:ext>
            </a:extLst>
          </p:cNvPr>
          <p:cNvCxnSpPr/>
          <p:nvPr/>
        </p:nvCxnSpPr>
        <p:spPr>
          <a:xfrm>
            <a:off x="5903089" y="1320800"/>
            <a:ext cx="0" cy="37775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6B68C3-DDE4-C2C7-6844-CF79CC7AD4AB}"/>
              </a:ext>
            </a:extLst>
          </p:cNvPr>
          <p:cNvCxnSpPr>
            <a:cxnSpLocks/>
          </p:cNvCxnSpPr>
          <p:nvPr/>
        </p:nvCxnSpPr>
        <p:spPr>
          <a:xfrm flipH="1">
            <a:off x="4014853" y="3249110"/>
            <a:ext cx="37633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A906CBA-CD2D-EEA3-8373-1377BCEF473B}"/>
              </a:ext>
            </a:extLst>
          </p:cNvPr>
          <p:cNvSpPr txBox="1"/>
          <p:nvPr/>
        </p:nvSpPr>
        <p:spPr>
          <a:xfrm>
            <a:off x="353511" y="3084010"/>
            <a:ext cx="419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Input variation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B8396-01BF-5E9E-1915-E141D8418B81}"/>
              </a:ext>
            </a:extLst>
          </p:cNvPr>
          <p:cNvSpPr txBox="1"/>
          <p:nvPr/>
        </p:nvSpPr>
        <p:spPr>
          <a:xfrm>
            <a:off x="3236112" y="1914102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pipelines!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30D262-00D0-D46B-1E2B-579DCE65E57F}"/>
              </a:ext>
            </a:extLst>
          </p:cNvPr>
          <p:cNvSpPr txBox="1"/>
          <p:nvPr/>
        </p:nvSpPr>
        <p:spPr>
          <a:xfrm>
            <a:off x="6474567" y="1811985"/>
            <a:ext cx="2207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autonomous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780B7-DB68-35D7-1C07-9DF54D2B95EA}"/>
              </a:ext>
            </a:extLst>
          </p:cNvPr>
          <p:cNvSpPr txBox="1"/>
          <p:nvPr/>
        </p:nvSpPr>
        <p:spPr>
          <a:xfrm>
            <a:off x="6894608" y="3957354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copilots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13DA1-8E19-0E1F-7041-9AE0E1E3D1A0}"/>
              </a:ext>
            </a:extLst>
          </p:cNvPr>
          <p:cNvSpPr txBox="1"/>
          <p:nvPr/>
        </p:nvSpPr>
        <p:spPr>
          <a:xfrm>
            <a:off x="2396597" y="3896714"/>
            <a:ext cx="3220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Montserrat" pitchFamily="2" charset="77"/>
              </a:rPr>
              <a:t>human judgement 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+ templates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CE6649-7A19-7EAF-93FA-74DE676FD7AA}"/>
              </a:ext>
            </a:extLst>
          </p:cNvPr>
          <p:cNvSpPr txBox="1"/>
          <p:nvPr/>
        </p:nvSpPr>
        <p:spPr>
          <a:xfrm>
            <a:off x="1846344" y="1237551"/>
            <a:ext cx="1899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routine assay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0C9D38-611E-EB3B-8F41-7870C343E248}"/>
              </a:ext>
            </a:extLst>
          </p:cNvPr>
          <p:cNvSpPr txBox="1"/>
          <p:nvPr/>
        </p:nvSpPr>
        <p:spPr>
          <a:xfrm>
            <a:off x="8336028" y="3557972"/>
            <a:ext cx="3466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Design a new analysis strategy or pipeline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480C81-74C4-ED29-A355-CA2F0A321D6C}"/>
              </a:ext>
            </a:extLst>
          </p:cNvPr>
          <p:cNvSpPr txBox="1"/>
          <p:nvPr/>
        </p:nvSpPr>
        <p:spPr>
          <a:xfrm>
            <a:off x="8073686" y="1198399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summarizing </a:t>
            </a:r>
          </a:p>
          <a:p>
            <a:pPr algn="ctr"/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emails in a text to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9EAFE2-F275-F1FB-92C9-918D0286D2C1}"/>
              </a:ext>
            </a:extLst>
          </p:cNvPr>
          <p:cNvSpPr txBox="1"/>
          <p:nvPr/>
        </p:nvSpPr>
        <p:spPr>
          <a:xfrm>
            <a:off x="7578395" y="4743456"/>
            <a:ext cx="2888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Reading and responding to emails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E16B1B-1087-B4D9-F908-1D5A4A18CD5B}"/>
              </a:ext>
            </a:extLst>
          </p:cNvPr>
          <p:cNvSpPr txBox="1"/>
          <p:nvPr/>
        </p:nvSpPr>
        <p:spPr>
          <a:xfrm>
            <a:off x="1661998" y="4882057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Reviewing a manuscript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7578B7-AB06-0616-7EA1-39141BC3FA5E}"/>
              </a:ext>
            </a:extLst>
          </p:cNvPr>
          <p:cNvSpPr txBox="1"/>
          <p:nvPr/>
        </p:nvSpPr>
        <p:spPr>
          <a:xfrm>
            <a:off x="9317898" y="1856363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Summarizing papers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84732-4668-B1D2-E82D-D239B75131F9}"/>
              </a:ext>
            </a:extLst>
          </p:cNvPr>
          <p:cNvSpPr txBox="1"/>
          <p:nvPr/>
        </p:nvSpPr>
        <p:spPr>
          <a:xfrm>
            <a:off x="943066" y="1815208"/>
            <a:ext cx="1797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standard QC reports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F078A4-2D40-9B7F-EDD3-C5F4440C7F89}"/>
              </a:ext>
            </a:extLst>
          </p:cNvPr>
          <p:cNvSpPr txBox="1"/>
          <p:nvPr/>
        </p:nvSpPr>
        <p:spPr>
          <a:xfrm>
            <a:off x="8499508" y="4165739"/>
            <a:ext cx="2491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  <a:latin typeface="Montserrat" pitchFamily="2" charset="77"/>
              </a:rPr>
              <a:t>Interpreting surprising results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B56544-E883-D5C4-CD47-60C2056F0A2C}"/>
              </a:ext>
            </a:extLst>
          </p:cNvPr>
          <p:cNvSpPr txBox="1"/>
          <p:nvPr/>
        </p:nvSpPr>
        <p:spPr>
          <a:xfrm>
            <a:off x="4688731" y="5508262"/>
            <a:ext cx="2529191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chemeClr val="accent2"/>
                </a:solidFill>
                <a:latin typeface="Montserrat"/>
              </a:rPr>
              <a:t>Ease of verification</a:t>
            </a:r>
          </a:p>
        </p:txBody>
      </p:sp>
    </p:spTree>
    <p:extLst>
      <p:ext uri="{BB962C8B-B14F-4D97-AF65-F5344CB8AC3E}">
        <p14:creationId xmlns:p14="http://schemas.microsoft.com/office/powerpoint/2010/main" val="1965695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EC17E1-C2FF-5244-95E7-71863C90C54C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Demo: How do I match the tool(s) to the task?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BCEC32-0425-8345-8A6C-848065968B8A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1FC9C-A8B9-0C4E-A1BD-A921553ED7A9}"/>
              </a:ext>
            </a:extLst>
          </p:cNvPr>
          <p:cNvSpPr txBox="1"/>
          <p:nvPr/>
        </p:nvSpPr>
        <p:spPr>
          <a:xfrm>
            <a:off x="457200" y="1117600"/>
            <a:ext cx="11303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Montserrat"/>
              </a:rPr>
              <a:t>Ask these seven questions about every workflow, this is the mental model to take home.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2B227-B881-2D4E-9AA0-0EFC9B1B8851}"/>
              </a:ext>
            </a:extLst>
          </p:cNvPr>
          <p:cNvSpPr txBox="1"/>
          <p:nvPr/>
        </p:nvSpPr>
        <p:spPr>
          <a:xfrm>
            <a:off x="2463800" y="1861496"/>
            <a:ext cx="419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A55BF2-9FD9-8E4B-AB57-1319CEEBD3CC}"/>
              </a:ext>
            </a:extLst>
          </p:cNvPr>
          <p:cNvSpPr txBox="1"/>
          <p:nvPr/>
        </p:nvSpPr>
        <p:spPr>
          <a:xfrm>
            <a:off x="2463800" y="2373928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EF9B9-6EBD-8047-BF97-C0038068BE1B}"/>
              </a:ext>
            </a:extLst>
          </p:cNvPr>
          <p:cNvSpPr txBox="1"/>
          <p:nvPr/>
        </p:nvSpPr>
        <p:spPr>
          <a:xfrm>
            <a:off x="2463800" y="2985075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977666-E96F-094D-9A76-47749EA4EFF9}"/>
              </a:ext>
            </a:extLst>
          </p:cNvPr>
          <p:cNvSpPr txBox="1"/>
          <p:nvPr/>
        </p:nvSpPr>
        <p:spPr>
          <a:xfrm>
            <a:off x="2463800" y="3557571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0F972C-15C0-9A4B-8AD3-ED7CB3B9A6E0}"/>
              </a:ext>
            </a:extLst>
          </p:cNvPr>
          <p:cNvSpPr txBox="1"/>
          <p:nvPr/>
        </p:nvSpPr>
        <p:spPr>
          <a:xfrm>
            <a:off x="2463800" y="4788896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C5545A-941C-D54B-97E2-F0B2E71FC4AC}"/>
              </a:ext>
            </a:extLst>
          </p:cNvPr>
          <p:cNvSpPr txBox="1"/>
          <p:nvPr/>
        </p:nvSpPr>
        <p:spPr>
          <a:xfrm>
            <a:off x="2463800" y="5346092"/>
            <a:ext cx="4191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19" name="Pentagon 18">
            <a:extLst>
              <a:ext uri="{FF2B5EF4-FFF2-40B4-BE49-F238E27FC236}">
                <a16:creationId xmlns:a16="http://schemas.microsoft.com/office/drawing/2014/main" id="{C9B6900B-8220-1E49-F933-39A134D325F4}"/>
              </a:ext>
            </a:extLst>
          </p:cNvPr>
          <p:cNvSpPr/>
          <p:nvPr/>
        </p:nvSpPr>
        <p:spPr>
          <a:xfrm>
            <a:off x="609600" y="1817993"/>
            <a:ext cx="1790700" cy="442607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20" name="Pentagon 19">
            <a:extLst>
              <a:ext uri="{FF2B5EF4-FFF2-40B4-BE49-F238E27FC236}">
                <a16:creationId xmlns:a16="http://schemas.microsoft.com/office/drawing/2014/main" id="{9FB91B09-F0DF-8976-B497-1985E306C247}"/>
              </a:ext>
            </a:extLst>
          </p:cNvPr>
          <p:cNvSpPr/>
          <p:nvPr/>
        </p:nvSpPr>
        <p:spPr>
          <a:xfrm>
            <a:off x="609600" y="2407582"/>
            <a:ext cx="1790700" cy="441528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40282CA5-2A5B-A32B-06C2-42A9027CE1AD}"/>
              </a:ext>
            </a:extLst>
          </p:cNvPr>
          <p:cNvSpPr/>
          <p:nvPr/>
        </p:nvSpPr>
        <p:spPr>
          <a:xfrm>
            <a:off x="609600" y="2996092"/>
            <a:ext cx="1790700" cy="434773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DD5BA8A0-F7B4-5AD9-7E93-739A7CB84061}"/>
              </a:ext>
            </a:extLst>
          </p:cNvPr>
          <p:cNvSpPr/>
          <p:nvPr/>
        </p:nvSpPr>
        <p:spPr>
          <a:xfrm>
            <a:off x="609600" y="3577847"/>
            <a:ext cx="1790700" cy="434773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1B43B78A-BFAB-45E1-E60F-3F0AF8BDF8D5}"/>
              </a:ext>
            </a:extLst>
          </p:cNvPr>
          <p:cNvSpPr/>
          <p:nvPr/>
        </p:nvSpPr>
        <p:spPr>
          <a:xfrm>
            <a:off x="609600" y="4743801"/>
            <a:ext cx="1790700" cy="455306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64F9D0FD-828A-633E-20BD-EADEA95354D3}"/>
              </a:ext>
            </a:extLst>
          </p:cNvPr>
          <p:cNvSpPr/>
          <p:nvPr/>
        </p:nvSpPr>
        <p:spPr>
          <a:xfrm>
            <a:off x="609600" y="5346092"/>
            <a:ext cx="1790700" cy="434773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239F2D05-7CED-5147-8E15-8F3B943FF711}"/>
              </a:ext>
            </a:extLst>
          </p:cNvPr>
          <p:cNvSpPr/>
          <p:nvPr/>
        </p:nvSpPr>
        <p:spPr>
          <a:xfrm>
            <a:off x="609600" y="41656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562C96-AAB5-CA43-B9CE-B36ED29E20DC}"/>
              </a:ext>
            </a:extLst>
          </p:cNvPr>
          <p:cNvSpPr txBox="1"/>
          <p:nvPr/>
        </p:nvSpPr>
        <p:spPr>
          <a:xfrm>
            <a:off x="2463800" y="4216400"/>
            <a:ext cx="4191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</p:spTree>
    <p:extLst>
      <p:ext uri="{BB962C8B-B14F-4D97-AF65-F5344CB8AC3E}">
        <p14:creationId xmlns:p14="http://schemas.microsoft.com/office/powerpoint/2010/main" val="1577720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52377-C01A-9C42-898E-030101A1C8AA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Demo framing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44349-21A2-3E4F-9444-1487668B5DF6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11B93-64F7-BA4E-A556-A1B5CA3A765A}"/>
              </a:ext>
            </a:extLst>
          </p:cNvPr>
          <p:cNvSpPr txBox="1"/>
          <p:nvPr/>
        </p:nvSpPr>
        <p:spPr>
          <a:xfrm>
            <a:off x="457200" y="1117600"/>
            <a:ext cx="11303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Montserrat"/>
              </a:rPr>
              <a:t>Stepping from reading a paper to having autonomous agents surface new work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B270EC-2B38-F048-BAE0-4285F2C237B7}"/>
              </a:ext>
            </a:extLst>
          </p:cNvPr>
          <p:cNvSpPr/>
          <p:nvPr/>
        </p:nvSpPr>
        <p:spPr>
          <a:xfrm>
            <a:off x="609600" y="2468302"/>
            <a:ext cx="2133600" cy="1244600"/>
          </a:xfrm>
          <a:prstGeom prst="roundRect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BF53B-4477-1146-9E3D-98E0A7A4116B}"/>
              </a:ext>
            </a:extLst>
          </p:cNvPr>
          <p:cNvSpPr txBox="1"/>
          <p:nvPr/>
        </p:nvSpPr>
        <p:spPr>
          <a:xfrm>
            <a:off x="6858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Read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F464C-837F-D748-8B2A-6942AF56C3BC}"/>
              </a:ext>
            </a:extLst>
          </p:cNvPr>
          <p:cNvSpPr txBox="1"/>
          <p:nvPr/>
        </p:nvSpPr>
        <p:spPr>
          <a:xfrm>
            <a:off x="685800" y="2896525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Read and summarize a paper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BE6766-8DF5-3B41-AF64-88FC369945DE}"/>
              </a:ext>
            </a:extLst>
          </p:cNvPr>
          <p:cNvSpPr/>
          <p:nvPr/>
        </p:nvSpPr>
        <p:spPr>
          <a:xfrm>
            <a:off x="2870200" y="2468302"/>
            <a:ext cx="2133600" cy="1244600"/>
          </a:xfrm>
          <a:prstGeom prst="roundRect">
            <a:avLst/>
          </a:prstGeom>
          <a:solidFill>
            <a:srgbClr val="D6E9F8"/>
          </a:solidFill>
          <a:ln w="19050" cap="flat" cmpd="sng" algn="ctr">
            <a:solidFill>
              <a:srgbClr val="8FBE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4471D-5FCC-5047-9B0B-E0CCB5A7192F}"/>
              </a:ext>
            </a:extLst>
          </p:cNvPr>
          <p:cNvSpPr txBox="1"/>
          <p:nvPr/>
        </p:nvSpPr>
        <p:spPr>
          <a:xfrm>
            <a:off x="29464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Contextualize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1534BB6-FF34-2047-ACBA-B5C8BBC8A0ED}"/>
              </a:ext>
            </a:extLst>
          </p:cNvPr>
          <p:cNvSpPr/>
          <p:nvPr/>
        </p:nvSpPr>
        <p:spPr>
          <a:xfrm>
            <a:off x="5130800" y="2468302"/>
            <a:ext cx="2133600" cy="1244600"/>
          </a:xfrm>
          <a:prstGeom prst="roundRect">
            <a:avLst/>
          </a:prstGeom>
          <a:solidFill>
            <a:srgbClr val="C0DCF2"/>
          </a:solidFill>
          <a:ln w="19050" cap="flat" cmpd="sng" algn="ctr">
            <a:solidFill>
              <a:srgbClr val="74A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4A1C6-0129-6D46-B1D4-5E7BE1ED1884}"/>
              </a:ext>
            </a:extLst>
          </p:cNvPr>
          <p:cNvSpPr txBox="1"/>
          <p:nvPr/>
        </p:nvSpPr>
        <p:spPr>
          <a:xfrm>
            <a:off x="52070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Decompose + Analyze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3AAA79-6E04-1649-9BD8-82DDE4F3FB7F}"/>
              </a:ext>
            </a:extLst>
          </p:cNvPr>
          <p:cNvSpPr/>
          <p:nvPr/>
        </p:nvSpPr>
        <p:spPr>
          <a:xfrm>
            <a:off x="7391400" y="2468302"/>
            <a:ext cx="2133600" cy="1244600"/>
          </a:xfrm>
          <a:prstGeom prst="roundRect">
            <a:avLst/>
          </a:prstGeom>
          <a:solidFill>
            <a:srgbClr val="A8CDEA"/>
          </a:solidFill>
          <a:ln w="19050" cap="flat" cmpd="sng" algn="ctr">
            <a:solidFill>
              <a:srgbClr val="5A97C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B2F7B-D2FB-F542-BDF2-80B2CB2BF730}"/>
              </a:ext>
            </a:extLst>
          </p:cNvPr>
          <p:cNvSpPr txBox="1"/>
          <p:nvPr/>
        </p:nvSpPr>
        <p:spPr>
          <a:xfrm>
            <a:off x="74676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Monitor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C7DCEE1-4CFB-7445-89E1-9D5A0DC53F40}"/>
              </a:ext>
            </a:extLst>
          </p:cNvPr>
          <p:cNvSpPr/>
          <p:nvPr/>
        </p:nvSpPr>
        <p:spPr>
          <a:xfrm>
            <a:off x="9652000" y="2468302"/>
            <a:ext cx="2133600" cy="1244600"/>
          </a:xfrm>
          <a:prstGeom prst="roundRect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C03847-7561-A744-BB22-0A719D2868DB}"/>
              </a:ext>
            </a:extLst>
          </p:cNvPr>
          <p:cNvSpPr txBox="1"/>
          <p:nvPr/>
        </p:nvSpPr>
        <p:spPr>
          <a:xfrm>
            <a:off x="9728200" y="2468302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1E3A5F"/>
                </a:solidFill>
                <a:latin typeface="Montserrat"/>
              </a:rPr>
              <a:t>Adapt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BECD27-993D-BF75-0BB5-B73A43E5B607}"/>
              </a:ext>
            </a:extLst>
          </p:cNvPr>
          <p:cNvSpPr txBox="1"/>
          <p:nvPr/>
        </p:nvSpPr>
        <p:spPr>
          <a:xfrm>
            <a:off x="2946400" y="2941898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Read and summarize a paper in context to field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4C0473-67F5-6B06-0119-4FA8C91AF7C0}"/>
              </a:ext>
            </a:extLst>
          </p:cNvPr>
          <p:cNvSpPr txBox="1"/>
          <p:nvPr/>
        </p:nvSpPr>
        <p:spPr>
          <a:xfrm>
            <a:off x="5207000" y="2941898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Decompose paper claims and analyze validity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0A522A-1A2B-A9B1-36A5-6AAEB1C70CF8}"/>
              </a:ext>
            </a:extLst>
          </p:cNvPr>
          <p:cNvSpPr txBox="1"/>
          <p:nvPr/>
        </p:nvSpPr>
        <p:spPr>
          <a:xfrm>
            <a:off x="7467600" y="2915813"/>
            <a:ext cx="198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Continually monitor for new research in an area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24FF85-B015-297A-52A1-7D19B2C4FC53}"/>
              </a:ext>
            </a:extLst>
          </p:cNvPr>
          <p:cNvSpPr txBox="1"/>
          <p:nvPr/>
        </p:nvSpPr>
        <p:spPr>
          <a:xfrm>
            <a:off x="9728200" y="2692400"/>
            <a:ext cx="2057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Task: Mine research, learn my preferences, extend published work</a:t>
            </a:r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1F55CDB6-2AA5-2BD3-FDA4-A7071484D270}"/>
              </a:ext>
            </a:extLst>
          </p:cNvPr>
          <p:cNvSpPr/>
          <p:nvPr/>
        </p:nvSpPr>
        <p:spPr>
          <a:xfrm>
            <a:off x="1844660" y="5401972"/>
            <a:ext cx="8668214" cy="282497"/>
          </a:xfrm>
          <a:prstGeom prst="rtTriangle">
            <a:avLst/>
          </a:prstGeom>
          <a:solidFill>
            <a:srgbClr val="428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4BE3B31-B926-5035-4084-D1DD2B67863D}"/>
              </a:ext>
            </a:extLst>
          </p:cNvPr>
          <p:cNvSpPr/>
          <p:nvPr/>
        </p:nvSpPr>
        <p:spPr>
          <a:xfrm flipH="1" flipV="1">
            <a:off x="1833508" y="5196197"/>
            <a:ext cx="8679365" cy="282497"/>
          </a:xfrm>
          <a:prstGeom prst="rtTriangle">
            <a:avLst/>
          </a:prstGeom>
          <a:solidFill>
            <a:srgbClr val="A8CD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D26800-2260-8CE5-C3CA-49AAA9A80E69}"/>
              </a:ext>
            </a:extLst>
          </p:cNvPr>
          <p:cNvSpPr txBox="1"/>
          <p:nvPr/>
        </p:nvSpPr>
        <p:spPr>
          <a:xfrm>
            <a:off x="1748016" y="5684468"/>
            <a:ext cx="3108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1E3A5F"/>
                </a:solidFill>
                <a:latin typeface="Montserrat" pitchFamily="2" charset="77"/>
              </a:rPr>
              <a:t>Human involvement/control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324D1D-BBC1-A217-A7A4-F1995EB3E21F}"/>
              </a:ext>
            </a:extLst>
          </p:cNvPr>
          <p:cNvSpPr txBox="1"/>
          <p:nvPr/>
        </p:nvSpPr>
        <p:spPr>
          <a:xfrm>
            <a:off x="7848954" y="4857644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1E3A5F"/>
                </a:solidFill>
                <a:latin typeface="Montserrat" pitchFamily="2" charset="77"/>
              </a:rPr>
              <a:t>Take action and initiative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59D1DE-F3B1-2A41-8741-75306B60879F}"/>
              </a:ext>
            </a:extLst>
          </p:cNvPr>
          <p:cNvSpPr txBox="1"/>
          <p:nvPr/>
        </p:nvSpPr>
        <p:spPr>
          <a:xfrm>
            <a:off x="1385548" y="4057509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Chat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responds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C1539B-5DFC-1B32-633D-2E707ABF048A}"/>
              </a:ext>
            </a:extLst>
          </p:cNvPr>
          <p:cNvSpPr txBox="1"/>
          <p:nvPr/>
        </p:nvSpPr>
        <p:spPr>
          <a:xfrm>
            <a:off x="4937099" y="4057509"/>
            <a:ext cx="201529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Copilot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assists in the loop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6D2328-240E-7562-7ECF-2A076256DA43}"/>
              </a:ext>
            </a:extLst>
          </p:cNvPr>
          <p:cNvSpPr txBox="1"/>
          <p:nvPr/>
        </p:nvSpPr>
        <p:spPr>
          <a:xfrm>
            <a:off x="8749516" y="4057509"/>
            <a:ext cx="29867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77"/>
              </a:rPr>
              <a:t>Autonomous agent</a:t>
            </a:r>
          </a:p>
          <a:p>
            <a:pPr algn="ctr"/>
            <a:r>
              <a:rPr lang="en-US" sz="1400" i="1" dirty="0">
                <a:latin typeface="Montserrat" pitchFamily="2" charset="77"/>
              </a:rPr>
              <a:t>AI acts by itself, towards a goal</a:t>
            </a:r>
          </a:p>
          <a:p>
            <a:pPr algn="ctr"/>
            <a:endParaRPr lang="en-US" b="1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03734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8A7611-959C-C641-A65F-5322FE9BDCFC}"/>
              </a:ext>
            </a:extLst>
          </p:cNvPr>
          <p:cNvSpPr txBox="1"/>
          <p:nvPr/>
        </p:nvSpPr>
        <p:spPr>
          <a:xfrm>
            <a:off x="457200" y="330200"/>
            <a:ext cx="812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Demo 1 — Read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815FDD-263A-7140-BA92-95C082F1DEA1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543064A-6C92-D043-9595-270D597FDDC8}"/>
              </a:ext>
            </a:extLst>
          </p:cNvPr>
          <p:cNvSpPr/>
          <p:nvPr/>
        </p:nvSpPr>
        <p:spPr>
          <a:xfrm>
            <a:off x="8943305" y="3418146"/>
            <a:ext cx="2971800" cy="888999"/>
          </a:xfrm>
          <a:prstGeom prst="roundRect">
            <a:avLst/>
          </a:prstGeom>
          <a:solidFill>
            <a:srgbClr val="E0F2FE"/>
          </a:solidFill>
          <a:ln w="15875" cap="flat" cmpd="sng" algn="ctr">
            <a:solidFill>
              <a:srgbClr val="0EA5E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Claude (chat)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ChatGPT, 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  <a:latin typeface="Montserrat"/>
              </a:rPr>
              <a:t>Gemini, list goes on and on</a:t>
            </a:r>
            <a:endParaRPr lang="en-US" sz="1400" b="1" dirty="0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538E7-F733-904A-BC33-801448BD7041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Have an LLM read a new paper and summarize its findings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DD1CD-C983-6E4D-8404-702CED8893DC}"/>
              </a:ext>
            </a:extLst>
          </p:cNvPr>
          <p:cNvSpPr txBox="1"/>
          <p:nvPr/>
        </p:nvSpPr>
        <p:spPr>
          <a:xfrm>
            <a:off x="5480140" y="4239043"/>
            <a:ext cx="215998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Structured readout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D33E6A-295F-0A44-4F0D-B36DABC98BE2}"/>
              </a:ext>
            </a:extLst>
          </p:cNvPr>
          <p:cNvSpPr txBox="1"/>
          <p:nvPr/>
        </p:nvSpPr>
        <p:spPr>
          <a:xfrm>
            <a:off x="2311400" y="2463121"/>
            <a:ext cx="1624526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958BC5-D5CD-7C12-FEBE-869B9BC705D7}"/>
              </a:ext>
            </a:extLst>
          </p:cNvPr>
          <p:cNvSpPr txBox="1"/>
          <p:nvPr/>
        </p:nvSpPr>
        <p:spPr>
          <a:xfrm>
            <a:off x="2311400" y="3055864"/>
            <a:ext cx="2814392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A82138-2121-65AF-E5AF-E34EA13B6EAF}"/>
              </a:ext>
            </a:extLst>
          </p:cNvPr>
          <p:cNvSpPr txBox="1"/>
          <p:nvPr/>
        </p:nvSpPr>
        <p:spPr>
          <a:xfrm>
            <a:off x="2311400" y="3666754"/>
            <a:ext cx="2028780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EC8BE8-CD08-093C-E0B5-B16828D1B4BE}"/>
              </a:ext>
            </a:extLst>
          </p:cNvPr>
          <p:cNvSpPr txBox="1"/>
          <p:nvPr/>
        </p:nvSpPr>
        <p:spPr>
          <a:xfrm>
            <a:off x="2311400" y="4239043"/>
            <a:ext cx="2705100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3CE77A-4654-A292-330A-71B7302E6790}"/>
              </a:ext>
            </a:extLst>
          </p:cNvPr>
          <p:cNvSpPr txBox="1"/>
          <p:nvPr/>
        </p:nvSpPr>
        <p:spPr>
          <a:xfrm>
            <a:off x="2311400" y="5422900"/>
            <a:ext cx="2028780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8DCABF-E233-0FA8-3885-7CD7C1B53B03}"/>
              </a:ext>
            </a:extLst>
          </p:cNvPr>
          <p:cNvSpPr txBox="1"/>
          <p:nvPr/>
        </p:nvSpPr>
        <p:spPr>
          <a:xfrm>
            <a:off x="2311400" y="5999132"/>
            <a:ext cx="3226515" cy="28531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3D767D-70B5-54CC-2517-56F5ED97A3AF}"/>
              </a:ext>
            </a:extLst>
          </p:cNvPr>
          <p:cNvSpPr txBox="1"/>
          <p:nvPr/>
        </p:nvSpPr>
        <p:spPr>
          <a:xfrm>
            <a:off x="5480140" y="2463121"/>
            <a:ext cx="294264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Paper, instructions on output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343E89-8F77-53B3-54D6-F2DE3C2E23B0}"/>
              </a:ext>
            </a:extLst>
          </p:cNvPr>
          <p:cNvSpPr txBox="1"/>
          <p:nvPr/>
        </p:nvSpPr>
        <p:spPr>
          <a:xfrm>
            <a:off x="5480140" y="3055864"/>
            <a:ext cx="294264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Read the paper, write text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C9DB5B-1045-0DF7-1D9A-007E8B325824}"/>
              </a:ext>
            </a:extLst>
          </p:cNvPr>
          <p:cNvSpPr txBox="1"/>
          <p:nvPr/>
        </p:nvSpPr>
        <p:spPr>
          <a:xfrm>
            <a:off x="5480140" y="3666754"/>
            <a:ext cx="294264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The paper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C7E148-2C79-577A-E8E0-1FA68F266665}"/>
              </a:ext>
            </a:extLst>
          </p:cNvPr>
          <p:cNvSpPr txBox="1"/>
          <p:nvPr/>
        </p:nvSpPr>
        <p:spPr>
          <a:xfrm>
            <a:off x="5486400" y="5422900"/>
            <a:ext cx="2942644" cy="259375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Citations to particular lines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A21396-58AB-8F0F-FAA2-6370E37701A5}"/>
              </a:ext>
            </a:extLst>
          </p:cNvPr>
          <p:cNvSpPr txBox="1"/>
          <p:nvPr/>
        </p:nvSpPr>
        <p:spPr>
          <a:xfrm>
            <a:off x="5480140" y="5999133"/>
            <a:ext cx="2942644" cy="285313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At the next turn</a:t>
            </a:r>
          </a:p>
        </p:txBody>
      </p:sp>
      <p:sp>
        <p:nvSpPr>
          <p:cNvPr id="55" name="Pentagon 54">
            <a:extLst>
              <a:ext uri="{FF2B5EF4-FFF2-40B4-BE49-F238E27FC236}">
                <a16:creationId xmlns:a16="http://schemas.microsoft.com/office/drawing/2014/main" id="{F1586DF2-0CE6-C7BC-ADBD-A796E01E899E}"/>
              </a:ext>
            </a:extLst>
          </p:cNvPr>
          <p:cNvSpPr/>
          <p:nvPr/>
        </p:nvSpPr>
        <p:spPr>
          <a:xfrm>
            <a:off x="476250" y="2415501"/>
            <a:ext cx="1790700" cy="442607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56" name="Pentagon 55">
            <a:extLst>
              <a:ext uri="{FF2B5EF4-FFF2-40B4-BE49-F238E27FC236}">
                <a16:creationId xmlns:a16="http://schemas.microsoft.com/office/drawing/2014/main" id="{D5044F68-A2F1-BC01-BE8B-9AC673FD9F58}"/>
              </a:ext>
            </a:extLst>
          </p:cNvPr>
          <p:cNvSpPr/>
          <p:nvPr/>
        </p:nvSpPr>
        <p:spPr>
          <a:xfrm>
            <a:off x="476250" y="3005090"/>
            <a:ext cx="1790700" cy="441528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57" name="Pentagon 56">
            <a:extLst>
              <a:ext uri="{FF2B5EF4-FFF2-40B4-BE49-F238E27FC236}">
                <a16:creationId xmlns:a16="http://schemas.microsoft.com/office/drawing/2014/main" id="{F177E486-5BE5-9762-D2FB-BDE149DCBE63}"/>
              </a:ext>
            </a:extLst>
          </p:cNvPr>
          <p:cNvSpPr/>
          <p:nvPr/>
        </p:nvSpPr>
        <p:spPr>
          <a:xfrm>
            <a:off x="476250" y="3593600"/>
            <a:ext cx="1790700" cy="434773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58" name="Pentagon 57">
            <a:extLst>
              <a:ext uri="{FF2B5EF4-FFF2-40B4-BE49-F238E27FC236}">
                <a16:creationId xmlns:a16="http://schemas.microsoft.com/office/drawing/2014/main" id="{A9D82056-07E7-3912-6F79-3A498126B801}"/>
              </a:ext>
            </a:extLst>
          </p:cNvPr>
          <p:cNvSpPr/>
          <p:nvPr/>
        </p:nvSpPr>
        <p:spPr>
          <a:xfrm>
            <a:off x="476250" y="4175355"/>
            <a:ext cx="1790700" cy="434773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59" name="Pentagon 58">
            <a:extLst>
              <a:ext uri="{FF2B5EF4-FFF2-40B4-BE49-F238E27FC236}">
                <a16:creationId xmlns:a16="http://schemas.microsoft.com/office/drawing/2014/main" id="{DE191B33-5B38-0D33-2D96-05E4E177B58B}"/>
              </a:ext>
            </a:extLst>
          </p:cNvPr>
          <p:cNvSpPr/>
          <p:nvPr/>
        </p:nvSpPr>
        <p:spPr>
          <a:xfrm>
            <a:off x="476250" y="5341309"/>
            <a:ext cx="1790700" cy="455306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60" name="Pentagon 59">
            <a:extLst>
              <a:ext uri="{FF2B5EF4-FFF2-40B4-BE49-F238E27FC236}">
                <a16:creationId xmlns:a16="http://schemas.microsoft.com/office/drawing/2014/main" id="{E7BA108D-9726-F4A0-9514-FBFF6E397B02}"/>
              </a:ext>
            </a:extLst>
          </p:cNvPr>
          <p:cNvSpPr/>
          <p:nvPr/>
        </p:nvSpPr>
        <p:spPr>
          <a:xfrm>
            <a:off x="476250" y="5943600"/>
            <a:ext cx="1790700" cy="434773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61" name="Pentagon 60">
            <a:extLst>
              <a:ext uri="{FF2B5EF4-FFF2-40B4-BE49-F238E27FC236}">
                <a16:creationId xmlns:a16="http://schemas.microsoft.com/office/drawing/2014/main" id="{E5BFCED0-7E9B-A1D8-2806-019969B7ADE3}"/>
              </a:ext>
            </a:extLst>
          </p:cNvPr>
          <p:cNvSpPr/>
          <p:nvPr/>
        </p:nvSpPr>
        <p:spPr>
          <a:xfrm>
            <a:off x="476250" y="4763108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121C88-5A59-0006-1755-392B720E8A17}"/>
              </a:ext>
            </a:extLst>
          </p:cNvPr>
          <p:cNvSpPr txBox="1"/>
          <p:nvPr/>
        </p:nvSpPr>
        <p:spPr>
          <a:xfrm>
            <a:off x="2311400" y="4864100"/>
            <a:ext cx="3048000" cy="25937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75347F-561C-FF95-CCAC-D38CD6A9E4A9}"/>
              </a:ext>
            </a:extLst>
          </p:cNvPr>
          <p:cNvSpPr txBox="1"/>
          <p:nvPr/>
        </p:nvSpPr>
        <p:spPr>
          <a:xfrm>
            <a:off x="5486400" y="4864100"/>
            <a:ext cx="4318000" cy="25937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Overclaiming, misreading, fake-generic limitations.</a:t>
            </a:r>
          </a:p>
        </p:txBody>
      </p:sp>
    </p:spTree>
    <p:extLst>
      <p:ext uri="{BB962C8B-B14F-4D97-AF65-F5344CB8AC3E}">
        <p14:creationId xmlns:p14="http://schemas.microsoft.com/office/powerpoint/2010/main" val="319923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8" grpId="0" build="allAtOnce"/>
      <p:bldP spid="49" grpId="0" build="allAtOnce"/>
      <p:bldP spid="50" grpId="0" build="allAtOnce"/>
      <p:bldP spid="51" grpId="0" build="allAtOnce"/>
      <p:bldP spid="52" grpId="0" build="allAtOnce"/>
      <p:bldP spid="53" grpId="0" build="allAtOnce"/>
      <p:bldP spid="63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409344-E113-E74D-BBEB-12AC16B83050}"/>
              </a:ext>
            </a:extLst>
          </p:cNvPr>
          <p:cNvSpPr txBox="1"/>
          <p:nvPr/>
        </p:nvSpPr>
        <p:spPr>
          <a:xfrm>
            <a:off x="457200" y="330200"/>
            <a:ext cx="78105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Demo 2 — Contextualize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FECB3-719A-5244-A430-65AF26231AAF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49A2EF-AD68-BA4E-B557-66A0F09F164B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Place the paper in its wider scientific context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D5819BC8-AFB3-DD4D-836F-09DF0BC4BF5E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10FC63-13DE-DE4C-BB9F-D503F7821251}"/>
              </a:ext>
            </a:extLst>
          </p:cNvPr>
          <p:cNvSpPr txBox="1"/>
          <p:nvPr/>
        </p:nvSpPr>
        <p:spPr>
          <a:xfrm>
            <a:off x="2311400" y="25146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FD5FEE-D537-C64D-8057-39F3978BE56B}"/>
              </a:ext>
            </a:extLst>
          </p:cNvPr>
          <p:cNvSpPr txBox="1"/>
          <p:nvPr/>
        </p:nvSpPr>
        <p:spPr>
          <a:xfrm>
            <a:off x="5486400" y="25146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The paper + literature retrieval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31308DC4-FFBC-E540-93FB-165C71F8223F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84E9E4-98A2-1C4D-9236-CF0E72EB58C8}"/>
              </a:ext>
            </a:extLst>
          </p:cNvPr>
          <p:cNvSpPr txBox="1"/>
          <p:nvPr/>
        </p:nvSpPr>
        <p:spPr>
          <a:xfrm>
            <a:off x="2311400" y="31115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430B1D-37D7-414F-8C91-B2643A30990C}"/>
              </a:ext>
            </a:extLst>
          </p:cNvPr>
          <p:cNvSpPr txBox="1"/>
          <p:nvPr/>
        </p:nvSpPr>
        <p:spPr>
          <a:xfrm>
            <a:off x="5486400" y="31115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Search, compare, cite related work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760B3E38-D8DF-8942-B90D-349A2ED33E0C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71E24C-22FE-5E42-98D8-5FBB24B69475}"/>
              </a:ext>
            </a:extLst>
          </p:cNvPr>
          <p:cNvSpPr txBox="1"/>
          <p:nvPr/>
        </p:nvSpPr>
        <p:spPr>
          <a:xfrm>
            <a:off x="2311400" y="36957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B470E4-2EDA-244B-B68A-EF405CE6E0D1}"/>
              </a:ext>
            </a:extLst>
          </p:cNvPr>
          <p:cNvSpPr txBox="1"/>
          <p:nvPr/>
        </p:nvSpPr>
        <p:spPr>
          <a:xfrm>
            <a:off x="5486400" y="3695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Web + literature search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B32FCA7F-02EE-CE40-A444-200DC329D0DC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D83BC6-6233-8244-B451-A64167B13E24}"/>
              </a:ext>
            </a:extLst>
          </p:cNvPr>
          <p:cNvSpPr txBox="1"/>
          <p:nvPr/>
        </p:nvSpPr>
        <p:spPr>
          <a:xfrm>
            <a:off x="2311400" y="42799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5E5B4D-3C18-3145-9BC9-0597B75C2072}"/>
              </a:ext>
            </a:extLst>
          </p:cNvPr>
          <p:cNvSpPr txBox="1"/>
          <p:nvPr/>
        </p:nvSpPr>
        <p:spPr>
          <a:xfrm>
            <a:off x="5486400" y="42799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Context memo with citations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4D4C9A93-9001-0743-8325-B0014B0CCE8E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B74B9A-39C9-6442-BCCB-174743BFE36A}"/>
              </a:ext>
            </a:extLst>
          </p:cNvPr>
          <p:cNvSpPr txBox="1"/>
          <p:nvPr/>
        </p:nvSpPr>
        <p:spPr>
          <a:xfrm>
            <a:off x="2311400" y="48641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8922EB-07AA-5B4F-98D6-1354BF82C5E5}"/>
              </a:ext>
            </a:extLst>
          </p:cNvPr>
          <p:cNvSpPr txBox="1"/>
          <p:nvPr/>
        </p:nvSpPr>
        <p:spPr>
          <a:xfrm>
            <a:off x="5486400" y="48641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False novelty, invented context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2BB1FE9F-DDA8-0144-BBD0-BD00E75B3816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DC9D63-68D8-9A41-9936-42E5D42F810D}"/>
              </a:ext>
            </a:extLst>
          </p:cNvPr>
          <p:cNvSpPr txBox="1"/>
          <p:nvPr/>
        </p:nvSpPr>
        <p:spPr>
          <a:xfrm>
            <a:off x="2311400" y="54483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AC3E4E-50EC-484D-B689-B17037120C51}"/>
              </a:ext>
            </a:extLst>
          </p:cNvPr>
          <p:cNvSpPr txBox="1"/>
          <p:nvPr/>
        </p:nvSpPr>
        <p:spPr>
          <a:xfrm>
            <a:off x="5486400" y="544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Citations resolve to real papers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AE0CAD43-FE73-2F43-8067-D14C98B0A8D5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A693C8-B46E-A74F-A688-7049BEDEB2C4}"/>
              </a:ext>
            </a:extLst>
          </p:cNvPr>
          <p:cNvSpPr txBox="1"/>
          <p:nvPr/>
        </p:nvSpPr>
        <p:spPr>
          <a:xfrm>
            <a:off x="2311400" y="60452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EBC324-6CC9-544C-A913-F86386C9D9BB}"/>
              </a:ext>
            </a:extLst>
          </p:cNvPr>
          <p:cNvSpPr txBox="1"/>
          <p:nvPr/>
        </p:nvSpPr>
        <p:spPr>
          <a:xfrm>
            <a:off x="5486400" y="60452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Before repeating novelty claims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0B19F06-EFA4-B840-8D7B-8FFEA65ED9D7}"/>
              </a:ext>
            </a:extLst>
          </p:cNvPr>
          <p:cNvSpPr/>
          <p:nvPr/>
        </p:nvSpPr>
        <p:spPr>
          <a:xfrm>
            <a:off x="8940800" y="3416300"/>
            <a:ext cx="2971800" cy="1117600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Claude </a:t>
            </a:r>
            <a:r>
              <a:rPr lang="en-US" sz="1400" dirty="0" err="1">
                <a:solidFill>
                  <a:schemeClr val="tx1"/>
                </a:solidFill>
                <a:latin typeface="Montserrat"/>
              </a:rPr>
              <a:t>Cowork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 + Paperclip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NotebookLM, Elicit, </a:t>
            </a:r>
            <a:r>
              <a:rPr lang="en-US" sz="1400" dirty="0" err="1">
                <a:solidFill>
                  <a:schemeClr val="tx1"/>
                </a:solidFill>
                <a:latin typeface="Montserrat"/>
              </a:rPr>
              <a:t>PaperQA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/Edison Lit, etc.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3F40A2-D627-ED18-7662-5BCEBBD8DD45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solidFill>
              <a:schemeClr val="accent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chemeClr val="tx1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chemeClr val="tx1"/>
                </a:solidFill>
                <a:latin typeface="Montserrat"/>
              </a:rPr>
              <a:t>tool use (content retrieval via MCP server)</a:t>
            </a:r>
          </a:p>
        </p:txBody>
      </p:sp>
    </p:spTree>
    <p:extLst>
      <p:ext uri="{BB962C8B-B14F-4D97-AF65-F5344CB8AC3E}">
        <p14:creationId xmlns:p14="http://schemas.microsoft.com/office/powerpoint/2010/main" val="114220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26" grpId="0"/>
      <p:bldP spid="29" grpId="0"/>
      <p:bldP spid="32" grpId="0"/>
      <p:bldP spid="35" grpId="0"/>
      <p:bldP spid="36" grpId="0" animBg="1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8F99-979C-15B2-083C-94BDC6D0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1B959A-95F7-7C63-BB9E-5AE4C95B0970}"/>
              </a:ext>
            </a:extLst>
          </p:cNvPr>
          <p:cNvSpPr txBox="1"/>
          <p:nvPr/>
        </p:nvSpPr>
        <p:spPr>
          <a:xfrm>
            <a:off x="457200" y="330200"/>
            <a:ext cx="78105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0F172A"/>
                </a:solidFill>
                <a:latin typeface="Montserrat"/>
              </a:rPr>
              <a:t>Tool use: local tools &amp; MCP servers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8B046-8999-A916-BB80-7A118A9E53DB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9D25B5-1D07-5AA3-29DF-CCCCCAD906E9}"/>
              </a:ext>
            </a:extLst>
          </p:cNvPr>
          <p:cNvSpPr txBox="1"/>
          <p:nvPr/>
        </p:nvSpPr>
        <p:spPr>
          <a:xfrm>
            <a:off x="336550" y="1238250"/>
            <a:ext cx="419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give the agent hands: actions through tools, with artifacts you can inspect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A97ED0-3786-8FC8-E9DE-C62355AEF93E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 algn="ctr">
            <a:solidFill>
              <a:schemeClr val="accent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concept: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tools — local &amp; via MCP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753C7A-818A-2645-8DA6-6C0C87FB2054}"/>
              </a:ext>
            </a:extLst>
          </p:cNvPr>
          <p:cNvSpPr/>
          <p:nvPr/>
        </p:nvSpPr>
        <p:spPr>
          <a:xfrm>
            <a:off x="4826000" y="1422400"/>
            <a:ext cx="2540000" cy="558800"/>
          </a:xfrm>
          <a:prstGeom prst="roundRect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Montserrat"/>
              </a:rPr>
              <a:t>Agent (LLM + loop)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F5F42F-D802-194C-84EE-C7BB784BF08A}"/>
              </a:ext>
            </a:extLst>
          </p:cNvPr>
          <p:cNvSpPr/>
          <p:nvPr/>
        </p:nvSpPr>
        <p:spPr>
          <a:xfrm>
            <a:off x="6083300" y="1981200"/>
            <a:ext cx="25400" cy="2286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639D4-8093-2742-BC89-178C66B6C3AF}"/>
              </a:ext>
            </a:extLst>
          </p:cNvPr>
          <p:cNvSpPr/>
          <p:nvPr/>
        </p:nvSpPr>
        <p:spPr>
          <a:xfrm>
            <a:off x="3276600" y="2209800"/>
            <a:ext cx="5638800" cy="254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4AF895-D626-4648-9EBE-12E6BC8784CA}"/>
              </a:ext>
            </a:extLst>
          </p:cNvPr>
          <p:cNvSpPr/>
          <p:nvPr/>
        </p:nvSpPr>
        <p:spPr>
          <a:xfrm>
            <a:off x="3276600" y="2235200"/>
            <a:ext cx="25400" cy="584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6C279A-7177-6E41-8254-86B21DADC63D}"/>
              </a:ext>
            </a:extLst>
          </p:cNvPr>
          <p:cNvSpPr/>
          <p:nvPr/>
        </p:nvSpPr>
        <p:spPr>
          <a:xfrm>
            <a:off x="8890000" y="2235200"/>
            <a:ext cx="25400" cy="584200"/>
          </a:xfrm>
          <a:prstGeom prst="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2007CC-CBEF-3745-84AB-B9BF24D8A0ED}"/>
              </a:ext>
            </a:extLst>
          </p:cNvPr>
          <p:cNvSpPr/>
          <p:nvPr/>
        </p:nvSpPr>
        <p:spPr>
          <a:xfrm>
            <a:off x="609600" y="2819400"/>
            <a:ext cx="5334000" cy="2743200"/>
          </a:xfrm>
          <a:prstGeom prst="roundRect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79CB7-C35D-0442-B850-0E31C4FE3B5D}"/>
              </a:ext>
            </a:extLst>
          </p:cNvPr>
          <p:cNvSpPr txBox="1"/>
          <p:nvPr/>
        </p:nvSpPr>
        <p:spPr>
          <a:xfrm>
            <a:off x="863600" y="3022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E3A5F"/>
                </a:solidFill>
                <a:latin typeface="Montserrat"/>
              </a:rPr>
              <a:t>Local tools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DC5F7-5EB0-5B43-8D22-009003E4394F}"/>
              </a:ext>
            </a:extLst>
          </p:cNvPr>
          <p:cNvSpPr txBox="1"/>
          <p:nvPr/>
        </p:nvSpPr>
        <p:spPr>
          <a:xfrm>
            <a:off x="863600" y="3505200"/>
            <a:ext cx="4826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Run where the model runs — your machine or a sandbox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Code execution, file read / write, local search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e.g. run Python on a CSV, grep a repo, edit files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FE9DEC2-D833-7F4A-BB88-B3DD0B138C85}"/>
              </a:ext>
            </a:extLst>
          </p:cNvPr>
          <p:cNvSpPr/>
          <p:nvPr/>
        </p:nvSpPr>
        <p:spPr>
          <a:xfrm>
            <a:off x="6248400" y="2819400"/>
            <a:ext cx="5334000" cy="2743200"/>
          </a:xfrm>
          <a:prstGeom prst="roundRect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DECD18-A667-8848-AB6C-8FCB6A790A5E}"/>
              </a:ext>
            </a:extLst>
          </p:cNvPr>
          <p:cNvSpPr txBox="1"/>
          <p:nvPr/>
        </p:nvSpPr>
        <p:spPr>
          <a:xfrm>
            <a:off x="6502400" y="3022600"/>
            <a:ext cx="4826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1E3A5F"/>
                </a:solidFill>
                <a:latin typeface="Montserrat"/>
              </a:rPr>
              <a:t>MCP servers or APIs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555A24-66E7-2D47-A098-B61F43DC1348}"/>
              </a:ext>
            </a:extLst>
          </p:cNvPr>
          <p:cNvSpPr txBox="1"/>
          <p:nvPr/>
        </p:nvSpPr>
        <p:spPr>
          <a:xfrm>
            <a:off x="6502400" y="3505200"/>
            <a:ext cx="4826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One </a:t>
            </a:r>
            <a:r>
              <a:rPr lang="en-US" sz="1500" u="sng" dirty="0">
                <a:solidFill>
                  <a:srgbClr val="334155"/>
                </a:solidFill>
                <a:latin typeface="Montserrat"/>
              </a:rPr>
              <a:t>standard protocol </a:t>
            </a:r>
            <a:r>
              <a:rPr lang="en-US" sz="1500" dirty="0">
                <a:solidFill>
                  <a:srgbClr val="334155"/>
                </a:solidFill>
                <a:latin typeface="Montserrat"/>
              </a:rPr>
              <a:t>to external systems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Databases, lab notebooks, literature APIs, Drive, Slack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The agent discovers each server's tools when it connects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1500" dirty="0">
                <a:solidFill>
                  <a:srgbClr val="334155"/>
                </a:solidFill>
                <a:latin typeface="Montserrat"/>
              </a:rPr>
              <a:t>Almost all AI tools have a marketplace of these, many run remotely!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74312E-FECC-E5AE-680B-C4FA92E071E2}"/>
              </a:ext>
            </a:extLst>
          </p:cNvPr>
          <p:cNvSpPr txBox="1"/>
          <p:nvPr/>
        </p:nvSpPr>
        <p:spPr>
          <a:xfrm>
            <a:off x="7808119" y="5962134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https://paperclip.gxl.ai/</a:t>
            </a:r>
            <a:endParaRPr lang="en-US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928AE4-00F7-CA74-282C-7F6AE564B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919" y="5809734"/>
            <a:ext cx="26162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72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C035F-8042-FD4F-AAF8-ED70979293E5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3 — Decompose + Traceable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F87BF-0554-0244-A51F-29365C98A835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ECD24A-21CC-6642-B2BC-96DF94D175BA}"/>
              </a:ext>
            </a:extLst>
          </p:cNvPr>
          <p:cNvSpPr txBox="1"/>
          <p:nvPr/>
        </p:nvSpPr>
        <p:spPr>
          <a:xfrm>
            <a:off x="457200" y="1270000"/>
            <a:ext cx="6599208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Break down claims, and analyze them with respect to public data, are there any discrepancies or agreements?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C56FA7C0-9B9A-0140-AB43-E0C7972AA528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FD99B7-879C-FC4B-A072-907A2B36349F}"/>
              </a:ext>
            </a:extLst>
          </p:cNvPr>
          <p:cNvSpPr txBox="1"/>
          <p:nvPr/>
        </p:nvSpPr>
        <p:spPr>
          <a:xfrm>
            <a:off x="2311400" y="25146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7A853D-D8D8-0D40-A016-AB3758A28332}"/>
              </a:ext>
            </a:extLst>
          </p:cNvPr>
          <p:cNvSpPr txBox="1"/>
          <p:nvPr/>
        </p:nvSpPr>
        <p:spPr>
          <a:xfrm>
            <a:off x="5486400" y="25146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The paper + its data and code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9225ED51-AD4D-CF4F-BF58-C829CA18AF1F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A0492D-0739-044B-88E8-11D129BDE36D}"/>
              </a:ext>
            </a:extLst>
          </p:cNvPr>
          <p:cNvSpPr txBox="1"/>
          <p:nvPr/>
        </p:nvSpPr>
        <p:spPr>
          <a:xfrm>
            <a:off x="2311400" y="31115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AC1986-2C8F-394A-B533-671910CE5855}"/>
              </a:ext>
            </a:extLst>
          </p:cNvPr>
          <p:cNvSpPr txBox="1"/>
          <p:nvPr/>
        </p:nvSpPr>
        <p:spPr>
          <a:xfrm>
            <a:off x="5486400" y="307975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Read paper, extract claims, analyze data, </a:t>
            </a:r>
          </a:p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audit results, write report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ED2D1FC4-E11C-494E-A8FA-DA5295A984BB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7B44E8-8039-0543-99B5-E35B08295253}"/>
              </a:ext>
            </a:extLst>
          </p:cNvPr>
          <p:cNvSpPr txBox="1"/>
          <p:nvPr/>
        </p:nvSpPr>
        <p:spPr>
          <a:xfrm>
            <a:off x="2311400" y="36957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7067E5-0BEE-1A48-92F2-63A13B49405C}"/>
              </a:ext>
            </a:extLst>
          </p:cNvPr>
          <p:cNvSpPr txBox="1"/>
          <p:nvPr/>
        </p:nvSpPr>
        <p:spPr>
          <a:xfrm>
            <a:off x="5486400" y="3695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Code running, public data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10595D40-DB4C-3049-9918-807304981789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645CAE-68F2-E841-9DCD-EED1178329FC}"/>
              </a:ext>
            </a:extLst>
          </p:cNvPr>
          <p:cNvSpPr txBox="1"/>
          <p:nvPr/>
        </p:nvSpPr>
        <p:spPr>
          <a:xfrm>
            <a:off x="2311400" y="42799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2668F3-E11C-8541-AA2F-C806F28E1EE1}"/>
              </a:ext>
            </a:extLst>
          </p:cNvPr>
          <p:cNvSpPr txBox="1"/>
          <p:nvPr/>
        </p:nvSpPr>
        <p:spPr>
          <a:xfrm>
            <a:off x="5486400" y="42799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Cited report, traceable analysis and code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326196B6-DA27-BF42-A26B-EC7AF844B1CB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F0C73C-31E6-9A4C-8AEC-2F94840283AA}"/>
              </a:ext>
            </a:extLst>
          </p:cNvPr>
          <p:cNvSpPr txBox="1"/>
          <p:nvPr/>
        </p:nvSpPr>
        <p:spPr>
          <a:xfrm>
            <a:off x="2311400" y="48641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CB4413-4160-E64C-87DF-471AC1CDCA1C}"/>
              </a:ext>
            </a:extLst>
          </p:cNvPr>
          <p:cNvSpPr txBox="1"/>
          <p:nvPr/>
        </p:nvSpPr>
        <p:spPr>
          <a:xfrm>
            <a:off x="5486400" y="48641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Convincing prose, no traceability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9905F1E9-6299-5943-A30F-4FA21AB0C6C1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2F3F56-9CAB-3442-9DEA-9B66FF47483E}"/>
              </a:ext>
            </a:extLst>
          </p:cNvPr>
          <p:cNvSpPr txBox="1"/>
          <p:nvPr/>
        </p:nvSpPr>
        <p:spPr>
          <a:xfrm>
            <a:off x="2311400" y="54483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8A58F6-4210-FE4C-B105-A5199A0A7736}"/>
              </a:ext>
            </a:extLst>
          </p:cNvPr>
          <p:cNvSpPr txBox="1"/>
          <p:nvPr/>
        </p:nvSpPr>
        <p:spPr>
          <a:xfrm>
            <a:off x="5486400" y="544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Conclusions trace to cells, figures</a:t>
            </a:r>
          </a:p>
        </p:txBody>
      </p:sp>
      <p:sp>
        <p:nvSpPr>
          <p:cNvPr id="36" name="Pentagon 35">
            <a:extLst>
              <a:ext uri="{FF2B5EF4-FFF2-40B4-BE49-F238E27FC236}">
                <a16:creationId xmlns:a16="http://schemas.microsoft.com/office/drawing/2014/main" id="{82B5C12A-89BF-F34A-8093-6963092AAFCB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14A93C-497A-ED47-807D-2807C847CA0A}"/>
              </a:ext>
            </a:extLst>
          </p:cNvPr>
          <p:cNvSpPr txBox="1"/>
          <p:nvPr/>
        </p:nvSpPr>
        <p:spPr>
          <a:xfrm>
            <a:off x="2311400" y="60452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7AE534-5C4F-754F-87C7-F88F05ED3813}"/>
              </a:ext>
            </a:extLst>
          </p:cNvPr>
          <p:cNvSpPr txBox="1"/>
          <p:nvPr/>
        </p:nvSpPr>
        <p:spPr>
          <a:xfrm>
            <a:off x="5486400" y="60452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After the report is written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369A66-7CF6-E64D-BEF3-76EB987B13DE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code execution (traceable analysis), multi-agent for task specification</a:t>
            </a:r>
          </a:p>
        </p:txBody>
      </p:sp>
    </p:spTree>
    <p:extLst>
      <p:ext uri="{BB962C8B-B14F-4D97-AF65-F5344CB8AC3E}">
        <p14:creationId xmlns:p14="http://schemas.microsoft.com/office/powerpoint/2010/main" val="3974990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7AC3-0A35-585D-C54D-05266F72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067F2-6754-7EB8-4765-F8C0B152AC64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3 — Decompose + Traceable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E4BC4-5F55-FF79-54E6-4FD0CF65029E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3EC9E-B435-3124-D97B-9C874D5FD8B8}"/>
              </a:ext>
            </a:extLst>
          </p:cNvPr>
          <p:cNvSpPr txBox="1"/>
          <p:nvPr/>
        </p:nvSpPr>
        <p:spPr>
          <a:xfrm>
            <a:off x="457200" y="1270000"/>
            <a:ext cx="6599208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Break down claims, and analyze them with respect to public data, are there any discrepancies or agreements?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9A7B1367-118F-3968-681E-A6DC53097119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B422B2-7DE3-755D-1E6B-BCBDC683B8B2}"/>
              </a:ext>
            </a:extLst>
          </p:cNvPr>
          <p:cNvSpPr txBox="1"/>
          <p:nvPr/>
        </p:nvSpPr>
        <p:spPr>
          <a:xfrm>
            <a:off x="2432669" y="2514600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The paper + its data and code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B5FB88A3-8474-ADA9-8DA0-45A4AF9CB1E3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E8DF3E-187D-EC8C-EC6C-3C0949148393}"/>
              </a:ext>
            </a:extLst>
          </p:cNvPr>
          <p:cNvSpPr txBox="1"/>
          <p:nvPr/>
        </p:nvSpPr>
        <p:spPr>
          <a:xfrm>
            <a:off x="2432669" y="3026794"/>
            <a:ext cx="3968131" cy="509078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334155"/>
                </a:solidFill>
                <a:latin typeface="Montserrat"/>
              </a:rPr>
              <a:t>Read paper, extract claims, analyze data, </a:t>
            </a:r>
          </a:p>
          <a:p>
            <a:pPr algn="l"/>
            <a:r>
              <a:rPr lang="en-US" sz="1400" b="1" i="1" dirty="0">
                <a:solidFill>
                  <a:srgbClr val="334155"/>
                </a:solidFill>
                <a:latin typeface="Montserrat"/>
              </a:rPr>
              <a:t>audit results, write report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3CE3E297-B1ED-081B-68D2-48B0709F944C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F0FDA3-97A2-84BB-C36B-82F89A4C4AAD}"/>
              </a:ext>
            </a:extLst>
          </p:cNvPr>
          <p:cNvSpPr txBox="1"/>
          <p:nvPr/>
        </p:nvSpPr>
        <p:spPr>
          <a:xfrm>
            <a:off x="2432669" y="37009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334155"/>
                </a:solidFill>
                <a:latin typeface="Montserrat"/>
              </a:rPr>
              <a:t>Code running, public data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BC2BB505-209F-3DF2-25F4-246A260F0AF8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380887-C8FD-406D-227E-3D2F16D7D5CF}"/>
              </a:ext>
            </a:extLst>
          </p:cNvPr>
          <p:cNvSpPr txBox="1"/>
          <p:nvPr/>
        </p:nvSpPr>
        <p:spPr>
          <a:xfrm>
            <a:off x="2432669" y="42851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334155"/>
                </a:solidFill>
                <a:latin typeface="Montserrat"/>
              </a:rPr>
              <a:t>Cited report, traceable analysis and code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E27E67C6-8401-98DA-BC5D-2CD163A08FFC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F03912-8C9F-5573-E13F-E9452B18B7C9}"/>
              </a:ext>
            </a:extLst>
          </p:cNvPr>
          <p:cNvSpPr txBox="1"/>
          <p:nvPr/>
        </p:nvSpPr>
        <p:spPr>
          <a:xfrm>
            <a:off x="2432669" y="48693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Convincing prose, no traceability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27E6315E-EDE5-A3CA-D347-C0C5615BD0C6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98F608-1371-C78B-4759-5899C096D322}"/>
              </a:ext>
            </a:extLst>
          </p:cNvPr>
          <p:cNvSpPr txBox="1"/>
          <p:nvPr/>
        </p:nvSpPr>
        <p:spPr>
          <a:xfrm>
            <a:off x="2432669" y="54535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334155"/>
                </a:solidFill>
                <a:latin typeface="Montserrat"/>
              </a:rPr>
              <a:t>Conclusions trace to cells, figures</a:t>
            </a:r>
          </a:p>
        </p:txBody>
      </p:sp>
      <p:sp>
        <p:nvSpPr>
          <p:cNvPr id="36" name="Pentagon 35">
            <a:extLst>
              <a:ext uri="{FF2B5EF4-FFF2-40B4-BE49-F238E27FC236}">
                <a16:creationId xmlns:a16="http://schemas.microsoft.com/office/drawing/2014/main" id="{CAC6EF45-22E9-5D4F-AF8C-9085F4EDCB79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E9C69D-57BD-ABCA-C639-BD274B0F6C5E}"/>
              </a:ext>
            </a:extLst>
          </p:cNvPr>
          <p:cNvSpPr txBox="1"/>
          <p:nvPr/>
        </p:nvSpPr>
        <p:spPr>
          <a:xfrm>
            <a:off x="2432669" y="6050472"/>
            <a:ext cx="2342054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After the report is written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E0A806E-C577-8881-B2E9-EF9D7685A7C9}"/>
              </a:ext>
            </a:extLst>
          </p:cNvPr>
          <p:cNvSpPr/>
          <p:nvPr/>
        </p:nvSpPr>
        <p:spPr>
          <a:xfrm>
            <a:off x="8737600" y="5384800"/>
            <a:ext cx="2971800" cy="1117599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Claude Science</a:t>
            </a:r>
          </a:p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Claude Code, Codex, Cursor, Kosmos, </a:t>
            </a:r>
            <a:r>
              <a:rPr lang="en-US" sz="1400" dirty="0" err="1">
                <a:solidFill>
                  <a:srgbClr val="0369A1"/>
                </a:solidFill>
                <a:latin typeface="Montserrat"/>
              </a:rPr>
              <a:t>Biomni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, K-Dense, etc.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6BC07F-BA26-AE5A-7CEF-DA6BEFCB5166}"/>
              </a:ext>
            </a:extLst>
          </p:cNvPr>
          <p:cNvSpPr/>
          <p:nvPr/>
        </p:nvSpPr>
        <p:spPr>
          <a:xfrm>
            <a:off x="8737600" y="4064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code execution (traceable analysis), multi-agent for task specification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56E2A-0A45-E481-7E11-42BC4DB6F2BE}"/>
              </a:ext>
            </a:extLst>
          </p:cNvPr>
          <p:cNvSpPr txBox="1"/>
          <p:nvPr/>
        </p:nvSpPr>
        <p:spPr>
          <a:xfrm>
            <a:off x="6956732" y="2514061"/>
            <a:ext cx="3968131" cy="509078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Well suited to subagents </a:t>
            </a:r>
            <a:br>
              <a:rPr lang="en-US" sz="1400" b="1" i="1" dirty="0">
                <a:solidFill>
                  <a:srgbClr val="334155"/>
                </a:solidFill>
                <a:latin typeface="Montserrat"/>
              </a:rPr>
            </a:br>
            <a:r>
              <a:rPr lang="en-US" sz="1400" i="1" dirty="0">
                <a:solidFill>
                  <a:srgbClr val="334155"/>
                </a:solidFill>
                <a:latin typeface="Montserrat"/>
              </a:rPr>
              <a:t>1. Paper reader/claim extraction</a:t>
            </a:r>
          </a:p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2. Data analysis agents to verify</a:t>
            </a:r>
          </a:p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3. Auditor to check data analysis</a:t>
            </a:r>
          </a:p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4. Report writer to synthesize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FB5A6-0E87-58A9-B5F7-5658B9C6FD37}"/>
              </a:ext>
            </a:extLst>
          </p:cNvPr>
          <p:cNvSpPr txBox="1"/>
          <p:nvPr/>
        </p:nvSpPr>
        <p:spPr>
          <a:xfrm>
            <a:off x="6956734" y="3703785"/>
            <a:ext cx="3968131" cy="509078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Connectors/MCPs!!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69A91-EF0E-9245-FC5E-4E6B050B16FD}"/>
              </a:ext>
            </a:extLst>
          </p:cNvPr>
          <p:cNvSpPr txBox="1"/>
          <p:nvPr/>
        </p:nvSpPr>
        <p:spPr>
          <a:xfrm>
            <a:off x="6956733" y="4284633"/>
            <a:ext cx="3968131" cy="509078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Use tool with this built in, or build into prompt</a:t>
            </a:r>
          </a:p>
        </p:txBody>
      </p:sp>
    </p:spTree>
    <p:extLst>
      <p:ext uri="{BB962C8B-B14F-4D97-AF65-F5344CB8AC3E}">
        <p14:creationId xmlns:p14="http://schemas.microsoft.com/office/powerpoint/2010/main" val="39857973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691690-3753-4246-8041-E78BA6AD01D5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4 — Monitor with a Reusable Routine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7AF2EA-8431-8240-948E-CCAB4075E6FB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158E3-FAF2-0247-9BD7-F31D1541FDC9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Package a stable workflow into a reusable monitoring routine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C4985C60-F2B6-0148-937D-546CC56B24C8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A1A679-D3F8-874F-BCB4-86A867CF511D}"/>
              </a:ext>
            </a:extLst>
          </p:cNvPr>
          <p:cNvSpPr txBox="1"/>
          <p:nvPr/>
        </p:nvSpPr>
        <p:spPr>
          <a:xfrm>
            <a:off x="2311400" y="25146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06F7E7-98B0-7F42-B0C9-8F7388A40FA0}"/>
              </a:ext>
            </a:extLst>
          </p:cNvPr>
          <p:cNvSpPr txBox="1"/>
          <p:nvPr/>
        </p:nvSpPr>
        <p:spPr>
          <a:xfrm>
            <a:off x="5486400" y="25146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New papers from feeds, daily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3DB49D14-C69F-E141-9CA6-5FD2FE792B17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100C1-ECF3-A846-A658-70481F3151D1}"/>
              </a:ext>
            </a:extLst>
          </p:cNvPr>
          <p:cNvSpPr txBox="1"/>
          <p:nvPr/>
        </p:nvSpPr>
        <p:spPr>
          <a:xfrm>
            <a:off x="2311400" y="31115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A8DC25-63C5-4348-82E3-9310DE6742E2}"/>
              </a:ext>
            </a:extLst>
          </p:cNvPr>
          <p:cNvSpPr txBox="1"/>
          <p:nvPr/>
        </p:nvSpPr>
        <p:spPr>
          <a:xfrm>
            <a:off x="5486400" y="31115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Filter, rank, dedupe, explain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2C6D53F1-68FC-DB4A-BA31-B19175076D6E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94810-9FA1-0647-B889-C98350B2B887}"/>
              </a:ext>
            </a:extLst>
          </p:cNvPr>
          <p:cNvSpPr txBox="1"/>
          <p:nvPr/>
        </p:nvSpPr>
        <p:spPr>
          <a:xfrm>
            <a:off x="2311400" y="36957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B9643E-B8CC-494C-AAF3-85A2BB9413F8}"/>
              </a:ext>
            </a:extLst>
          </p:cNvPr>
          <p:cNvSpPr txBox="1"/>
          <p:nvPr/>
        </p:nvSpPr>
        <p:spPr>
          <a:xfrm>
            <a:off x="5486400" y="3695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Feeds + repo of skills, rubrics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5E6FA537-9725-FA4B-BE6E-3BEB6A7697CE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5A8EEF-FB4F-2149-AF74-34446E33297A}"/>
              </a:ext>
            </a:extLst>
          </p:cNvPr>
          <p:cNvSpPr txBox="1"/>
          <p:nvPr/>
        </p:nvSpPr>
        <p:spPr>
          <a:xfrm>
            <a:off x="2311400" y="42799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7C6167-427A-064A-8A01-BDE7384AB9FD}"/>
              </a:ext>
            </a:extLst>
          </p:cNvPr>
          <p:cNvSpPr txBox="1"/>
          <p:nvPr/>
        </p:nvSpPr>
        <p:spPr>
          <a:xfrm>
            <a:off x="5486400" y="42799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334155"/>
                </a:solidFill>
                <a:latin typeface="Montserrat"/>
              </a:rPr>
              <a:t>A digest: shortlist with reasons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C339E5B3-D381-E345-B45F-5C26AF3CBE2F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4896A0-FF7D-804A-8D14-39BC5A6CED7D}"/>
              </a:ext>
            </a:extLst>
          </p:cNvPr>
          <p:cNvSpPr txBox="1"/>
          <p:nvPr/>
        </p:nvSpPr>
        <p:spPr>
          <a:xfrm>
            <a:off x="2311400" y="48641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E92BA5-0BD8-0C4F-AB9E-EFF3A262D0B0}"/>
              </a:ext>
            </a:extLst>
          </p:cNvPr>
          <p:cNvSpPr txBox="1"/>
          <p:nvPr/>
        </p:nvSpPr>
        <p:spPr>
          <a:xfrm>
            <a:off x="5486400" y="48641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Noisy confidence, duplicates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7241C27A-50C7-DC4A-8775-D040972D9405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B23982-8163-9F4A-8650-B03A4D3BC8A0}"/>
              </a:ext>
            </a:extLst>
          </p:cNvPr>
          <p:cNvSpPr txBox="1"/>
          <p:nvPr/>
        </p:nvSpPr>
        <p:spPr>
          <a:xfrm>
            <a:off x="2311400" y="54483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E06174-2485-2A43-8528-552C8CAD7CCE}"/>
              </a:ext>
            </a:extLst>
          </p:cNvPr>
          <p:cNvSpPr txBox="1"/>
          <p:nvPr/>
        </p:nvSpPr>
        <p:spPr>
          <a:xfrm>
            <a:off x="5486400" y="544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Deduped, selective, legible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29A8E963-9500-5E43-9BBA-4A36B3B3604A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5D4842-3546-A34B-BE6C-AB2802D404D7}"/>
              </a:ext>
            </a:extLst>
          </p:cNvPr>
          <p:cNvSpPr txBox="1"/>
          <p:nvPr/>
        </p:nvSpPr>
        <p:spPr>
          <a:xfrm>
            <a:off x="2311400" y="60452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3EB5E0-35DD-1E49-9600-6A98A4694427}"/>
              </a:ext>
            </a:extLst>
          </p:cNvPr>
          <p:cNvSpPr txBox="1"/>
          <p:nvPr/>
        </p:nvSpPr>
        <p:spPr>
          <a:xfrm>
            <a:off x="5486400" y="60452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Human reads before acting on it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6780D2D-2797-254F-8478-CCFBB9D55E80}"/>
              </a:ext>
            </a:extLst>
          </p:cNvPr>
          <p:cNvSpPr/>
          <p:nvPr/>
        </p:nvSpPr>
        <p:spPr>
          <a:xfrm>
            <a:off x="8940800" y="3251200"/>
            <a:ext cx="2971800" cy="1219200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Claude Code (routines)</a:t>
            </a:r>
          </a:p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scripts + scheduler, CI jobs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A67C60-DC1B-EB49-BCD3-D81ED495E68C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routines (runs on its own), interacts with external DBs/surfaces, skills</a:t>
            </a:r>
          </a:p>
        </p:txBody>
      </p:sp>
    </p:spTree>
    <p:extLst>
      <p:ext uri="{BB962C8B-B14F-4D97-AF65-F5344CB8AC3E}">
        <p14:creationId xmlns:p14="http://schemas.microsoft.com/office/powerpoint/2010/main" val="1698576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B46041-C0D4-184B-A50D-BB8918FBE92F}"/>
              </a:ext>
            </a:extLst>
          </p:cNvPr>
          <p:cNvSpPr txBox="1"/>
          <p:nvPr/>
        </p:nvSpPr>
        <p:spPr>
          <a:xfrm>
            <a:off x="457200" y="330200"/>
            <a:ext cx="7874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600" b="1">
                <a:solidFill>
                  <a:srgbClr val="0F172A"/>
                </a:solidFill>
                <a:latin typeface="Montserrat"/>
              </a:rPr>
              <a:t>Demo 5 — Adapt with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73F1A9-F21D-B346-B1EB-06DEF0967A27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FFF78-F3AC-2048-ACF5-76C0B9BDCCC0}"/>
              </a:ext>
            </a:extLst>
          </p:cNvPr>
          <p:cNvSpPr txBox="1"/>
          <p:nvPr/>
        </p:nvSpPr>
        <p:spPr>
          <a:xfrm>
            <a:off x="457200" y="1270000"/>
            <a:ext cx="533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Montserrat"/>
              </a:rPr>
              <a:t>Goal: </a:t>
            </a:r>
            <a:r>
              <a:rPr lang="en-US" sz="1600" dirty="0">
                <a:solidFill>
                  <a:srgbClr val="0F172A"/>
                </a:solidFill>
                <a:latin typeface="Montserrat"/>
              </a:rPr>
              <a:t>A routine repeats; a collaborator remembers and adapts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8A26789A-575B-CD4C-BDC9-698BE2BC4BD9}"/>
              </a:ext>
            </a:extLst>
          </p:cNvPr>
          <p:cNvSpPr/>
          <p:nvPr/>
        </p:nvSpPr>
        <p:spPr>
          <a:xfrm>
            <a:off x="482600" y="2413000"/>
            <a:ext cx="1790700" cy="4445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BD226D-A35A-B743-8933-2D95CEDEAFD8}"/>
              </a:ext>
            </a:extLst>
          </p:cNvPr>
          <p:cNvSpPr txBox="1"/>
          <p:nvPr/>
        </p:nvSpPr>
        <p:spPr>
          <a:xfrm>
            <a:off x="2311400" y="25146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goes in?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ABAB9-724D-C844-AD11-4041A0595E42}"/>
              </a:ext>
            </a:extLst>
          </p:cNvPr>
          <p:cNvSpPr txBox="1"/>
          <p:nvPr/>
        </p:nvSpPr>
        <p:spPr>
          <a:xfrm>
            <a:off x="5486400" y="25146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Digests + my feedback over time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2EBA6575-44A8-2945-A39F-185DA5BC190C}"/>
              </a:ext>
            </a:extLst>
          </p:cNvPr>
          <p:cNvSpPr/>
          <p:nvPr/>
        </p:nvSpPr>
        <p:spPr>
          <a:xfrm>
            <a:off x="482600" y="3009900"/>
            <a:ext cx="1790700" cy="4445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98697-D3A9-5643-9FC7-99DECA567F19}"/>
              </a:ext>
            </a:extLst>
          </p:cNvPr>
          <p:cNvSpPr txBox="1"/>
          <p:nvPr/>
        </p:nvSpPr>
        <p:spPr>
          <a:xfrm>
            <a:off x="2311400" y="31115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must it be able to do?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AC148-AAD3-0248-8EB3-B83FBF067072}"/>
              </a:ext>
            </a:extLst>
          </p:cNvPr>
          <p:cNvSpPr txBox="1"/>
          <p:nvPr/>
        </p:nvSpPr>
        <p:spPr>
          <a:xfrm>
            <a:off x="5486400" y="31115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Store, recall, apply preferences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A78B9701-A6E8-0749-B84C-5D3BA19C4743}"/>
              </a:ext>
            </a:extLst>
          </p:cNvPr>
          <p:cNvSpPr/>
          <p:nvPr/>
        </p:nvSpPr>
        <p:spPr>
          <a:xfrm>
            <a:off x="482600" y="3594100"/>
            <a:ext cx="1790700" cy="4445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6C038B-C5F0-FB4D-9B51-2815CE8F3AAB}"/>
              </a:ext>
            </a:extLst>
          </p:cNvPr>
          <p:cNvSpPr txBox="1"/>
          <p:nvPr/>
        </p:nvSpPr>
        <p:spPr>
          <a:xfrm>
            <a:off x="2311400" y="36957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can it touch?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9F810B-783B-9741-BEAC-2BC8FC49ECE7}"/>
              </a:ext>
            </a:extLst>
          </p:cNvPr>
          <p:cNvSpPr txBox="1"/>
          <p:nvPr/>
        </p:nvSpPr>
        <p:spPr>
          <a:xfrm>
            <a:off x="5486400" y="36957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Memory + the monitoring routine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F363AE1E-B3B5-1748-A19E-029FDCDA2007}"/>
              </a:ext>
            </a:extLst>
          </p:cNvPr>
          <p:cNvSpPr/>
          <p:nvPr/>
        </p:nvSpPr>
        <p:spPr>
          <a:xfrm>
            <a:off x="482600" y="4178300"/>
            <a:ext cx="1790700" cy="4445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E99543-7315-B344-9F09-40BE8A84265E}"/>
              </a:ext>
            </a:extLst>
          </p:cNvPr>
          <p:cNvSpPr txBox="1"/>
          <p:nvPr/>
        </p:nvSpPr>
        <p:spPr>
          <a:xfrm>
            <a:off x="2311400" y="42799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appears at the end?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C6EC9B-719D-E942-B579-561AE34C81F0}"/>
              </a:ext>
            </a:extLst>
          </p:cNvPr>
          <p:cNvSpPr txBox="1"/>
          <p:nvPr/>
        </p:nvSpPr>
        <p:spPr>
          <a:xfrm>
            <a:off x="5486400" y="42799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Before/after shortlist, reasons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E0A404E5-9C80-1146-911B-F8817BC17050}"/>
              </a:ext>
            </a:extLst>
          </p:cNvPr>
          <p:cNvSpPr/>
          <p:nvPr/>
        </p:nvSpPr>
        <p:spPr>
          <a:xfrm>
            <a:off x="482600" y="4762500"/>
            <a:ext cx="1790700" cy="4445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5325CD-0ED8-C947-9E85-AB5362413085}"/>
              </a:ext>
            </a:extLst>
          </p:cNvPr>
          <p:cNvSpPr txBox="1"/>
          <p:nvPr/>
        </p:nvSpPr>
        <p:spPr>
          <a:xfrm>
            <a:off x="2311400" y="48641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What does going wrong look like?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F20CE3-0040-674D-85B8-D2B43903EC21}"/>
              </a:ext>
            </a:extLst>
          </p:cNvPr>
          <p:cNvSpPr txBox="1"/>
          <p:nvPr/>
        </p:nvSpPr>
        <p:spPr>
          <a:xfrm>
            <a:off x="5486400" y="48641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Decorative memory, no change</a:t>
            </a:r>
          </a:p>
        </p:txBody>
      </p:sp>
      <p:sp>
        <p:nvSpPr>
          <p:cNvPr id="30" name="Pentagon 29">
            <a:extLst>
              <a:ext uri="{FF2B5EF4-FFF2-40B4-BE49-F238E27FC236}">
                <a16:creationId xmlns:a16="http://schemas.microsoft.com/office/drawing/2014/main" id="{1F33D17C-BA4A-6F47-A50F-D14CFF948D10}"/>
              </a:ext>
            </a:extLst>
          </p:cNvPr>
          <p:cNvSpPr/>
          <p:nvPr/>
        </p:nvSpPr>
        <p:spPr>
          <a:xfrm>
            <a:off x="482600" y="5346700"/>
            <a:ext cx="1790700" cy="4445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33C5D9-38CA-AF41-A6D4-E6543CC88C5D}"/>
              </a:ext>
            </a:extLst>
          </p:cNvPr>
          <p:cNvSpPr txBox="1"/>
          <p:nvPr/>
        </p:nvSpPr>
        <p:spPr>
          <a:xfrm>
            <a:off x="2311400" y="54483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How do we verify it?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E19EBE-E253-F644-8EA1-8A69ED405CDA}"/>
              </a:ext>
            </a:extLst>
          </p:cNvPr>
          <p:cNvSpPr txBox="1"/>
          <p:nvPr/>
        </p:nvSpPr>
        <p:spPr>
          <a:xfrm>
            <a:off x="5486400" y="54483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Feedback visibly changes output</a:t>
            </a:r>
          </a:p>
        </p:txBody>
      </p:sp>
      <p:sp>
        <p:nvSpPr>
          <p:cNvPr id="33" name="Pentagon 32">
            <a:extLst>
              <a:ext uri="{FF2B5EF4-FFF2-40B4-BE49-F238E27FC236}">
                <a16:creationId xmlns:a16="http://schemas.microsoft.com/office/drawing/2014/main" id="{38C13454-DDBB-9541-B779-B5706CE7821E}"/>
              </a:ext>
            </a:extLst>
          </p:cNvPr>
          <p:cNvSpPr/>
          <p:nvPr/>
        </p:nvSpPr>
        <p:spPr>
          <a:xfrm>
            <a:off x="482600" y="5943600"/>
            <a:ext cx="1790700" cy="4445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4EC13A-D05F-DE49-8EEB-B180F1C8DD40}"/>
              </a:ext>
            </a:extLst>
          </p:cNvPr>
          <p:cNvSpPr txBox="1"/>
          <p:nvPr/>
        </p:nvSpPr>
        <p:spPr>
          <a:xfrm>
            <a:off x="2311400" y="6045200"/>
            <a:ext cx="304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>
                <a:solidFill>
                  <a:srgbClr val="475569"/>
                </a:solidFill>
                <a:latin typeface="Montserrat"/>
              </a:rPr>
              <a:t>When does a human take over?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F45572-6748-F442-A4EC-08BD9D50A460}"/>
              </a:ext>
            </a:extLst>
          </p:cNvPr>
          <p:cNvSpPr txBox="1"/>
          <p:nvPr/>
        </p:nvSpPr>
        <p:spPr>
          <a:xfrm>
            <a:off x="5486400" y="6045200"/>
            <a:ext cx="3429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i="1">
                <a:solidFill>
                  <a:srgbClr val="334155"/>
                </a:solidFill>
                <a:latin typeface="Montserrat"/>
              </a:rPr>
              <a:t>When preferences conflict or drift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90D3A12-CE61-7149-972D-8594428D16FF}"/>
              </a:ext>
            </a:extLst>
          </p:cNvPr>
          <p:cNvSpPr/>
          <p:nvPr/>
        </p:nvSpPr>
        <p:spPr>
          <a:xfrm>
            <a:off x="8940800" y="3416300"/>
            <a:ext cx="2971800" cy="889000"/>
          </a:xfrm>
          <a:prstGeom prst="roundRect">
            <a:avLst/>
          </a:prstGeom>
          <a:solidFill>
            <a:srgbClr val="E0F2FE"/>
          </a:solidFill>
          <a:ln w="1905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Surface: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Hermes</a:t>
            </a:r>
          </a:p>
          <a:p>
            <a:pPr algn="l"/>
            <a:r>
              <a:rPr lang="en-US" sz="1400" b="1" dirty="0">
                <a:solidFill>
                  <a:srgbClr val="0369A1"/>
                </a:solidFill>
                <a:latin typeface="Montserrat"/>
              </a:rPr>
              <a:t>Other options: </a:t>
            </a:r>
            <a:r>
              <a:rPr lang="en-US" sz="1400" dirty="0">
                <a:solidFill>
                  <a:srgbClr val="0369A1"/>
                </a:solidFill>
                <a:latin typeface="Montserrat"/>
              </a:rPr>
              <a:t>orchestration + memory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96A566A-5B91-C04E-BD5B-532AFF9FA1D6}"/>
              </a:ext>
            </a:extLst>
          </p:cNvPr>
          <p:cNvSpPr/>
          <p:nvPr/>
        </p:nvSpPr>
        <p:spPr>
          <a:xfrm>
            <a:off x="8940800" y="381000"/>
            <a:ext cx="2971800" cy="11176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0F172A"/>
                </a:solidFill>
                <a:latin typeface="Montserrat"/>
              </a:rPr>
              <a:t>New capability: </a:t>
            </a:r>
            <a:r>
              <a:rPr lang="en-US" sz="1400" dirty="0">
                <a:solidFill>
                  <a:srgbClr val="0F172A"/>
                </a:solidFill>
                <a:latin typeface="Montserrat"/>
              </a:rPr>
              <a:t>memory (learns your preferences)</a:t>
            </a:r>
          </a:p>
        </p:txBody>
      </p:sp>
    </p:spTree>
    <p:extLst>
      <p:ext uri="{BB962C8B-B14F-4D97-AF65-F5344CB8AC3E}">
        <p14:creationId xmlns:p14="http://schemas.microsoft.com/office/powerpoint/2010/main" val="1712156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EFEE93-E662-C94D-AAF5-326813437BC5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What the five demos were really teaching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503A9C-75DA-2F43-A644-FE26B0AF5F0C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8DBA819-19FA-4940-BC4C-F9EBA2962B99}"/>
              </a:ext>
            </a:extLst>
          </p:cNvPr>
          <p:cNvSpPr/>
          <p:nvPr/>
        </p:nvSpPr>
        <p:spPr>
          <a:xfrm>
            <a:off x="457200" y="1270000"/>
            <a:ext cx="3175000" cy="736600"/>
          </a:xfrm>
          <a:prstGeom prst="roundRect">
            <a:avLst/>
          </a:prstGeom>
          <a:solidFill>
            <a:srgbClr val="EAF4FB"/>
          </a:solidFill>
          <a:ln w="15875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1 — Read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D9AB2E-4DA2-EF43-9028-5DB74E60B1F7}"/>
              </a:ext>
            </a:extLst>
          </p:cNvPr>
          <p:cNvSpPr/>
          <p:nvPr/>
        </p:nvSpPr>
        <p:spPr>
          <a:xfrm>
            <a:off x="3810000" y="12700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4155"/>
                </a:solidFill>
                <a:latin typeface="Montserrat"/>
              </a:rPr>
              <a:t>Comprehension: structured, checkable reading of a single paper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CB3020-7259-D448-8115-02F5AFD12321}"/>
              </a:ext>
            </a:extLst>
          </p:cNvPr>
          <p:cNvSpPr/>
          <p:nvPr/>
        </p:nvSpPr>
        <p:spPr>
          <a:xfrm>
            <a:off x="457200" y="2133600"/>
            <a:ext cx="3175000" cy="736600"/>
          </a:xfrm>
          <a:prstGeom prst="roundRect">
            <a:avLst/>
          </a:prstGeom>
          <a:solidFill>
            <a:srgbClr val="D6E9F8"/>
          </a:solidFill>
          <a:ln w="15875" cap="flat" cmpd="sng" algn="ctr">
            <a:solidFill>
              <a:srgbClr val="8FBE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2 — Contextualize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FB9046-912B-3C48-9F7F-2D4C37E5AEE7}"/>
              </a:ext>
            </a:extLst>
          </p:cNvPr>
          <p:cNvSpPr/>
          <p:nvPr/>
        </p:nvSpPr>
        <p:spPr>
          <a:xfrm>
            <a:off x="3810000" y="21336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4155"/>
                </a:solidFill>
                <a:latin typeface="Montserrat"/>
              </a:rPr>
              <a:t>Retrieval-grounded context: judgment needs the field, not just the paper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CD1725-BF53-9E40-BE35-748026EA4145}"/>
              </a:ext>
            </a:extLst>
          </p:cNvPr>
          <p:cNvSpPr/>
          <p:nvPr/>
        </p:nvSpPr>
        <p:spPr>
          <a:xfrm>
            <a:off x="457200" y="2997200"/>
            <a:ext cx="3175000" cy="736600"/>
          </a:xfrm>
          <a:prstGeom prst="roundRect">
            <a:avLst/>
          </a:prstGeom>
          <a:solidFill>
            <a:srgbClr val="C0DCF2"/>
          </a:solidFill>
          <a:ln w="15875" cap="flat" cmpd="sng" algn="ctr">
            <a:solidFill>
              <a:srgbClr val="74AB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3 — Decompose + Analyze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21B8E9-8F7D-704D-837E-5EB3FD04B255}"/>
              </a:ext>
            </a:extLst>
          </p:cNvPr>
          <p:cNvSpPr/>
          <p:nvPr/>
        </p:nvSpPr>
        <p:spPr>
          <a:xfrm>
            <a:off x="3810000" y="29972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4155"/>
                </a:solidFill>
                <a:latin typeface="Montserrat"/>
              </a:rPr>
              <a:t>Specialization + traceable analysis: provenance from claim to evidence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D82C226-4E04-7546-92D5-B9DD58A08F7E}"/>
              </a:ext>
            </a:extLst>
          </p:cNvPr>
          <p:cNvSpPr/>
          <p:nvPr/>
        </p:nvSpPr>
        <p:spPr>
          <a:xfrm>
            <a:off x="457200" y="3860800"/>
            <a:ext cx="3175000" cy="736600"/>
          </a:xfrm>
          <a:prstGeom prst="roundRect">
            <a:avLst/>
          </a:prstGeom>
          <a:solidFill>
            <a:srgbClr val="A8CDEA"/>
          </a:solidFill>
          <a:ln w="15875" cap="flat" cmpd="sng" algn="ctr">
            <a:solidFill>
              <a:srgbClr val="5A97C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4 — Monitor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6F6661-6C9F-794B-9DDB-70C969BDF789}"/>
              </a:ext>
            </a:extLst>
          </p:cNvPr>
          <p:cNvSpPr/>
          <p:nvPr/>
        </p:nvSpPr>
        <p:spPr>
          <a:xfrm>
            <a:off x="3810000" y="38608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4155"/>
                </a:solidFill>
                <a:latin typeface="Montserrat"/>
              </a:rPr>
              <a:t>Reusable routines: a stable workflow becomes a packaged, versioned asset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3C2DCE8-65D6-0F4D-A6A1-F7EC7BBAF01F}"/>
              </a:ext>
            </a:extLst>
          </p:cNvPr>
          <p:cNvSpPr/>
          <p:nvPr/>
        </p:nvSpPr>
        <p:spPr>
          <a:xfrm>
            <a:off x="457200" y="4724400"/>
            <a:ext cx="3175000" cy="736600"/>
          </a:xfrm>
          <a:prstGeom prst="roundRect">
            <a:avLst/>
          </a:prstGeom>
          <a:solidFill>
            <a:srgbClr val="8FBCE0"/>
          </a:solidFill>
          <a:ln w="15875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Demo 5 — Adapt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2B72BDF-0BB9-9B4C-8212-842240AB92A7}"/>
              </a:ext>
            </a:extLst>
          </p:cNvPr>
          <p:cNvSpPr/>
          <p:nvPr/>
        </p:nvSpPr>
        <p:spPr>
          <a:xfrm>
            <a:off x="3810000" y="4724400"/>
            <a:ext cx="7924800" cy="7366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4155"/>
                </a:solidFill>
                <a:latin typeface="Montserrat"/>
              </a:rPr>
              <a:t>Memory + adaptation: feedback visibly changes future behavior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5154AA-8307-0F43-87DF-A066DD3EC13E}"/>
              </a:ext>
            </a:extLst>
          </p:cNvPr>
          <p:cNvSpPr/>
          <p:nvPr/>
        </p:nvSpPr>
        <p:spPr>
          <a:xfrm>
            <a:off x="457200" y="5842000"/>
            <a:ext cx="11277600" cy="558800"/>
          </a:xfrm>
          <a:prstGeom prst="roundRect">
            <a:avLst/>
          </a:prstGeom>
          <a:solidFill>
            <a:srgbClr val="F8FAFC"/>
          </a:solidFill>
          <a:ln w="15875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D4ED8"/>
                </a:solidFill>
                <a:latin typeface="Montserrat"/>
              </a:rPr>
              <a:t>Ask the room: which of these five capabilities feels immediately useful to your own work?</a:t>
            </a:r>
          </a:p>
        </p:txBody>
      </p:sp>
    </p:spTree>
    <p:extLst>
      <p:ext uri="{BB962C8B-B14F-4D97-AF65-F5344CB8AC3E}">
        <p14:creationId xmlns:p14="http://schemas.microsoft.com/office/powerpoint/2010/main" val="15015728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0C84BA-69B7-F345-AE0D-E049237DFD92}"/>
              </a:ext>
            </a:extLst>
          </p:cNvPr>
          <p:cNvSpPr txBox="1"/>
          <p:nvPr/>
        </p:nvSpPr>
        <p:spPr>
          <a:xfrm>
            <a:off x="457200" y="330200"/>
            <a:ext cx="9906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Your turn: design one agent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20AF4-997C-B841-8217-1FE13ECF0E65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F79758-C14D-3848-9B86-EB091E53899F}"/>
              </a:ext>
            </a:extLst>
          </p:cNvPr>
          <p:cNvSpPr txBox="1"/>
          <p:nvPr/>
        </p:nvSpPr>
        <p:spPr>
          <a:xfrm>
            <a:off x="457200" y="1117600"/>
            <a:ext cx="1130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475569"/>
                </a:solidFill>
                <a:latin typeface="Montserrat"/>
              </a:rPr>
              <a:t>Pick one recurring task in your scientific life that is variable but verifiable — then sketch it through the lens.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FA70991-A53C-8842-B259-62A3FE9F0759}"/>
              </a:ext>
            </a:extLst>
          </p:cNvPr>
          <p:cNvSpPr/>
          <p:nvPr/>
        </p:nvSpPr>
        <p:spPr>
          <a:xfrm>
            <a:off x="609600" y="4521200"/>
            <a:ext cx="10972800" cy="1066800"/>
          </a:xfrm>
          <a:prstGeom prst="roundRect">
            <a:avLst/>
          </a:prstGeom>
          <a:solidFill>
            <a:srgbClr val="DDECF8"/>
          </a:solidFill>
          <a:ln w="15875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1E3A5F"/>
                </a:solidFill>
                <a:latin typeface="Montserrat"/>
              </a:rPr>
              <a:t>Need inspiration? The room asked for these: data cleaning, plotting pipelines, repetitive analysis, reproducible analytics, literature triage, documentation.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2882853-99B7-EF4E-8100-B695EF84FE06}"/>
              </a:ext>
            </a:extLst>
          </p:cNvPr>
          <p:cNvSpPr/>
          <p:nvPr/>
        </p:nvSpPr>
        <p:spPr>
          <a:xfrm>
            <a:off x="609600" y="5816600"/>
            <a:ext cx="10972800" cy="558800"/>
          </a:xfrm>
          <a:prstGeom prst="roundRect">
            <a:avLst/>
          </a:prstGeom>
          <a:solidFill>
            <a:srgbClr val="F8FAFC"/>
          </a:solidFill>
          <a:ln w="15875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D4ED8"/>
                </a:solidFill>
                <a:latin typeface="Montserrat"/>
              </a:rPr>
              <a:t>Pair up: three minutes to sketch the seven boxes for your task.</a:t>
            </a:r>
          </a:p>
        </p:txBody>
      </p:sp>
      <p:sp>
        <p:nvSpPr>
          <p:cNvPr id="19" name="Pentagon 18">
            <a:extLst>
              <a:ext uri="{FF2B5EF4-FFF2-40B4-BE49-F238E27FC236}">
                <a16:creationId xmlns:a16="http://schemas.microsoft.com/office/drawing/2014/main" id="{BDEED510-564F-B64D-8167-70FDC779CD8B}"/>
              </a:ext>
            </a:extLst>
          </p:cNvPr>
          <p:cNvSpPr/>
          <p:nvPr/>
        </p:nvSpPr>
        <p:spPr>
          <a:xfrm>
            <a:off x="431800" y="1905000"/>
            <a:ext cx="1574800" cy="812800"/>
          </a:xfrm>
          <a:prstGeom prst="homePlate">
            <a:avLst/>
          </a:prstGeom>
          <a:solidFill>
            <a:srgbClr val="EAF4FB"/>
          </a:solidFill>
          <a:ln w="19050" cap="flat" cmpd="sng" algn="ctr">
            <a:solidFill>
              <a:srgbClr val="A8CF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Inputs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F1F4FE0-2369-B74A-89E7-32CC9D363571}"/>
              </a:ext>
            </a:extLst>
          </p:cNvPr>
          <p:cNvSpPr/>
          <p:nvPr/>
        </p:nvSpPr>
        <p:spPr>
          <a:xfrm>
            <a:off x="4318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73613494-5425-514A-93AE-AB9A98497632}"/>
              </a:ext>
            </a:extLst>
          </p:cNvPr>
          <p:cNvSpPr/>
          <p:nvPr/>
        </p:nvSpPr>
        <p:spPr>
          <a:xfrm>
            <a:off x="2057400" y="1905000"/>
            <a:ext cx="1574800" cy="812800"/>
          </a:xfrm>
          <a:prstGeom prst="homePlate">
            <a:avLst/>
          </a:prstGeom>
          <a:solidFill>
            <a:srgbClr val="DDECF8"/>
          </a:solidFill>
          <a:ln w="19050" cap="flat" cmpd="sng" algn="ctr">
            <a:solidFill>
              <a:srgbClr val="99C4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Agent needs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AE4964D-086A-9544-8E4F-9B18746431E0}"/>
              </a:ext>
            </a:extLst>
          </p:cNvPr>
          <p:cNvSpPr/>
          <p:nvPr/>
        </p:nvSpPr>
        <p:spPr>
          <a:xfrm>
            <a:off x="20574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CC1C0E3A-1BF7-194C-BBBD-87E1FDE4987E}"/>
              </a:ext>
            </a:extLst>
          </p:cNvPr>
          <p:cNvSpPr/>
          <p:nvPr/>
        </p:nvSpPr>
        <p:spPr>
          <a:xfrm>
            <a:off x="3683000" y="1905000"/>
            <a:ext cx="1574800" cy="812800"/>
          </a:xfrm>
          <a:prstGeom prst="homePlate">
            <a:avLst/>
          </a:prstGeom>
          <a:solidFill>
            <a:srgbClr val="CFE3F4"/>
          </a:solidFill>
          <a:ln w="19050" cap="flat" cmpd="sng" algn="ctr">
            <a:solidFill>
              <a:srgbClr val="88B7D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Tools / access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58AB6BA-1CA7-AB43-8291-1818C6BC88D4}"/>
              </a:ext>
            </a:extLst>
          </p:cNvPr>
          <p:cNvSpPr/>
          <p:nvPr/>
        </p:nvSpPr>
        <p:spPr>
          <a:xfrm>
            <a:off x="36830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5CD21778-5227-B542-85FD-7B54F0E8909A}"/>
              </a:ext>
            </a:extLst>
          </p:cNvPr>
          <p:cNvSpPr/>
          <p:nvPr/>
        </p:nvSpPr>
        <p:spPr>
          <a:xfrm>
            <a:off x="5308600" y="1905000"/>
            <a:ext cx="1574800" cy="812800"/>
          </a:xfrm>
          <a:prstGeom prst="homePlate">
            <a:avLst/>
          </a:prstGeom>
          <a:solidFill>
            <a:srgbClr val="BFD9F0"/>
          </a:solidFill>
          <a:ln w="19050" cap="flat" cmpd="sng" algn="ctr">
            <a:solidFill>
              <a:srgbClr val="76AAD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Artifact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A21C431-DA0F-FD4A-BB2D-F208FACC37BE}"/>
              </a:ext>
            </a:extLst>
          </p:cNvPr>
          <p:cNvSpPr/>
          <p:nvPr/>
        </p:nvSpPr>
        <p:spPr>
          <a:xfrm>
            <a:off x="53086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49234897-4E04-3F4E-8238-A6BF95C5A7B1}"/>
              </a:ext>
            </a:extLst>
          </p:cNvPr>
          <p:cNvSpPr/>
          <p:nvPr/>
        </p:nvSpPr>
        <p:spPr>
          <a:xfrm>
            <a:off x="6934200" y="1905000"/>
            <a:ext cx="1574800" cy="812800"/>
          </a:xfrm>
          <a:prstGeom prst="homePlate">
            <a:avLst/>
          </a:prstGeom>
          <a:solidFill>
            <a:srgbClr val="ADCEEA"/>
          </a:solidFill>
          <a:ln w="19050" cap="flat" cmpd="sng" algn="ctr">
            <a:solidFill>
              <a:srgbClr val="649CC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Failure Modes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1F616C0-D812-254F-8D27-AB15E5D7A19E}"/>
              </a:ext>
            </a:extLst>
          </p:cNvPr>
          <p:cNvSpPr/>
          <p:nvPr/>
        </p:nvSpPr>
        <p:spPr>
          <a:xfrm>
            <a:off x="69342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Pentagon 28">
            <a:extLst>
              <a:ext uri="{FF2B5EF4-FFF2-40B4-BE49-F238E27FC236}">
                <a16:creationId xmlns:a16="http://schemas.microsoft.com/office/drawing/2014/main" id="{C0E4E3A8-7AAD-0B48-98CE-F2EB176060A6}"/>
              </a:ext>
            </a:extLst>
          </p:cNvPr>
          <p:cNvSpPr/>
          <p:nvPr/>
        </p:nvSpPr>
        <p:spPr>
          <a:xfrm>
            <a:off x="8559800" y="1905000"/>
            <a:ext cx="1574800" cy="812800"/>
          </a:xfrm>
          <a:prstGeom prst="homePlate">
            <a:avLst/>
          </a:prstGeom>
          <a:solidFill>
            <a:srgbClr val="9CC4E5"/>
          </a:solidFill>
          <a:ln w="19050" cap="flat" cmpd="sng" algn="ctr">
            <a:solidFill>
              <a:srgbClr val="5390C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Check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F61C456-B06E-F241-8BE7-57268503B7B6}"/>
              </a:ext>
            </a:extLst>
          </p:cNvPr>
          <p:cNvSpPr/>
          <p:nvPr/>
        </p:nvSpPr>
        <p:spPr>
          <a:xfrm>
            <a:off x="85598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Pentagon 30">
            <a:extLst>
              <a:ext uri="{FF2B5EF4-FFF2-40B4-BE49-F238E27FC236}">
                <a16:creationId xmlns:a16="http://schemas.microsoft.com/office/drawing/2014/main" id="{A48F3923-BDB6-5648-9A2C-63ECA55186AE}"/>
              </a:ext>
            </a:extLst>
          </p:cNvPr>
          <p:cNvSpPr/>
          <p:nvPr/>
        </p:nvSpPr>
        <p:spPr>
          <a:xfrm>
            <a:off x="10185400" y="1905000"/>
            <a:ext cx="1574800" cy="812800"/>
          </a:xfrm>
          <a:prstGeom prst="homePlate">
            <a:avLst/>
          </a:prstGeom>
          <a:solidFill>
            <a:srgbClr val="8FBCE0"/>
          </a:solidFill>
          <a:ln w="19050" cap="flat" cmpd="sng" algn="ctr">
            <a:solidFill>
              <a:srgbClr val="4283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E3A5F"/>
                </a:solidFill>
                <a:latin typeface="Montserrat"/>
              </a:rPr>
              <a:t>Escalation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7B0F36A-D025-2742-915F-EAF376B3714C}"/>
              </a:ext>
            </a:extLst>
          </p:cNvPr>
          <p:cNvSpPr/>
          <p:nvPr/>
        </p:nvSpPr>
        <p:spPr>
          <a:xfrm>
            <a:off x="10185400" y="2870200"/>
            <a:ext cx="1574800" cy="13970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41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E2597B-2B37-3D4F-958A-48D8156265B2}"/>
              </a:ext>
            </a:extLst>
          </p:cNvPr>
          <p:cNvSpPr txBox="1"/>
          <p:nvPr/>
        </p:nvSpPr>
        <p:spPr>
          <a:xfrm>
            <a:off x="457200" y="330200"/>
            <a:ext cx="10795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What trustworthy agent demos had in common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8FEBD-6102-3B42-9CC3-14AAA8F8EDF0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445B8D9-E482-E541-BF26-08E8DDC6138D}"/>
              </a:ext>
            </a:extLst>
          </p:cNvPr>
          <p:cNvSpPr/>
          <p:nvPr/>
        </p:nvSpPr>
        <p:spPr>
          <a:xfrm>
            <a:off x="711200" y="1663700"/>
            <a:ext cx="228600" cy="228600"/>
          </a:xfrm>
          <a:prstGeom prst="ellipse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CAAA50-8400-004B-862D-443C9DCA1213}"/>
              </a:ext>
            </a:extLst>
          </p:cNvPr>
          <p:cNvSpPr/>
          <p:nvPr/>
        </p:nvSpPr>
        <p:spPr>
          <a:xfrm>
            <a:off x="1168400" y="1422400"/>
            <a:ext cx="10414000" cy="7112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34155"/>
                </a:solidFill>
                <a:latin typeface="Montserrat"/>
              </a:rPr>
              <a:t>Inspectable artifacts — every step leaves something you can open and read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7421FA-8DF6-D04A-ADC4-E877F620EE00}"/>
              </a:ext>
            </a:extLst>
          </p:cNvPr>
          <p:cNvSpPr/>
          <p:nvPr/>
        </p:nvSpPr>
        <p:spPr>
          <a:xfrm>
            <a:off x="711200" y="2527300"/>
            <a:ext cx="228600" cy="228600"/>
          </a:xfrm>
          <a:prstGeom prst="ellipse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8CB173-FAE1-BC4B-8C4A-F8F9C5FAEA39}"/>
              </a:ext>
            </a:extLst>
          </p:cNvPr>
          <p:cNvSpPr/>
          <p:nvPr/>
        </p:nvSpPr>
        <p:spPr>
          <a:xfrm>
            <a:off x="1168400" y="2286000"/>
            <a:ext cx="10414000" cy="7112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34155"/>
                </a:solidFill>
                <a:latin typeface="Montserrat"/>
              </a:rPr>
              <a:t>External checks — verification against the paper, the data, or a second reviewer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274A9E-61E0-EC4C-8350-1ADC40EF40DA}"/>
              </a:ext>
            </a:extLst>
          </p:cNvPr>
          <p:cNvSpPr/>
          <p:nvPr/>
        </p:nvSpPr>
        <p:spPr>
          <a:xfrm>
            <a:off x="711200" y="3390900"/>
            <a:ext cx="228600" cy="228600"/>
          </a:xfrm>
          <a:prstGeom prst="ellipse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595ABDA-6197-B241-A7FB-35630A94F543}"/>
              </a:ext>
            </a:extLst>
          </p:cNvPr>
          <p:cNvSpPr/>
          <p:nvPr/>
        </p:nvSpPr>
        <p:spPr>
          <a:xfrm>
            <a:off x="1168400" y="3149600"/>
            <a:ext cx="10414000" cy="7112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34155"/>
                </a:solidFill>
                <a:latin typeface="Montserrat"/>
              </a:rPr>
              <a:t>Bounded scope — each agent had a job, not a mission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FC6BE81-8170-924D-8861-5F713ACC2F28}"/>
              </a:ext>
            </a:extLst>
          </p:cNvPr>
          <p:cNvSpPr/>
          <p:nvPr/>
        </p:nvSpPr>
        <p:spPr>
          <a:xfrm>
            <a:off x="711200" y="4254500"/>
            <a:ext cx="228600" cy="228600"/>
          </a:xfrm>
          <a:prstGeom prst="ellipse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193CC28-8831-9148-ADDA-6619F5E02FC0}"/>
              </a:ext>
            </a:extLst>
          </p:cNvPr>
          <p:cNvSpPr/>
          <p:nvPr/>
        </p:nvSpPr>
        <p:spPr>
          <a:xfrm>
            <a:off x="1168400" y="4013200"/>
            <a:ext cx="10414000" cy="7112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34155"/>
                </a:solidFill>
                <a:latin typeface="Montserrat"/>
              </a:rPr>
              <a:t>Visible failure modes — we named what going wrong looks like, out loud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C7DD0B-D308-C648-B7C6-947822D2DEF0}"/>
              </a:ext>
            </a:extLst>
          </p:cNvPr>
          <p:cNvSpPr/>
          <p:nvPr/>
        </p:nvSpPr>
        <p:spPr>
          <a:xfrm>
            <a:off x="711200" y="5118100"/>
            <a:ext cx="228600" cy="228600"/>
          </a:xfrm>
          <a:prstGeom prst="ellipse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86D5487-8A6F-AF4C-9A43-D8818DDD906B}"/>
              </a:ext>
            </a:extLst>
          </p:cNvPr>
          <p:cNvSpPr/>
          <p:nvPr/>
        </p:nvSpPr>
        <p:spPr>
          <a:xfrm>
            <a:off x="1168400" y="4876800"/>
            <a:ext cx="10414000" cy="711200"/>
          </a:xfrm>
          <a:prstGeom prst="roundRect">
            <a:avLst/>
          </a:prstGeom>
          <a:solidFill>
            <a:srgbClr val="F8FAFC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334155"/>
                </a:solidFill>
                <a:latin typeface="Montserrat"/>
              </a:rPr>
              <a:t>Explicit escalation paths — a human knows exactly when to take over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F172C5B-7D9C-614E-8D43-5922B286D5EB}"/>
              </a:ext>
            </a:extLst>
          </p:cNvPr>
          <p:cNvSpPr/>
          <p:nvPr/>
        </p:nvSpPr>
        <p:spPr>
          <a:xfrm>
            <a:off x="609600" y="5867400"/>
            <a:ext cx="10972800" cy="660400"/>
          </a:xfrm>
          <a:prstGeom prst="roundRect">
            <a:avLst/>
          </a:prstGeom>
          <a:solidFill>
            <a:srgbClr val="F6C6AD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7C2D12"/>
                </a:solidFill>
                <a:latin typeface="Montserrat"/>
              </a:rPr>
              <a:t>The anti-hype point: these demos worked because they could be checked — not because the model was clever.</a:t>
            </a:r>
          </a:p>
        </p:txBody>
      </p:sp>
    </p:spTree>
    <p:extLst>
      <p:ext uri="{BB962C8B-B14F-4D97-AF65-F5344CB8AC3E}">
        <p14:creationId xmlns:p14="http://schemas.microsoft.com/office/powerpoint/2010/main" val="3005445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E92D06-9CBE-5A44-AC59-14555F0E3DDE}"/>
              </a:ext>
            </a:extLst>
          </p:cNvPr>
          <p:cNvSpPr txBox="1"/>
          <p:nvPr/>
        </p:nvSpPr>
        <p:spPr>
          <a:xfrm>
            <a:off x="457200" y="330200"/>
            <a:ext cx="10795000" cy="533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>
                <a:solidFill>
                  <a:srgbClr val="0F172A"/>
                </a:solidFill>
                <a:latin typeface="Montserrat"/>
              </a:rPr>
              <a:t>Same capabilities, different tool surfaces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88637-A399-3740-B81C-2FF7A7D71D22}"/>
              </a:ext>
            </a:extLst>
          </p:cNvPr>
          <p:cNvSpPr/>
          <p:nvPr/>
        </p:nvSpPr>
        <p:spPr>
          <a:xfrm>
            <a:off x="457200" y="9144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FFCCA6-8E84-1947-947E-0EA9DBB4B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740309"/>
              </p:ext>
            </p:extLst>
          </p:nvPr>
        </p:nvGraphicFramePr>
        <p:xfrm>
          <a:off x="457200" y="1676400"/>
          <a:ext cx="112776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8989517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43850583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594959818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Capability you need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Montserrat"/>
                        </a:rPr>
                        <a:t>What we used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ontserrat"/>
                        </a:rPr>
                        <a:t>Equivalents you might also use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9999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334155"/>
                          </a:solidFill>
                          <a:latin typeface="Montserrat"/>
                        </a:rPr>
                        <a:t>Reader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4155"/>
                          </a:solidFill>
                          <a:latin typeface="Montserrat"/>
                        </a:rPr>
                        <a:t>Claude (chat)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ChatGPT, Gemini, any strong chat model (open source!)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63935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334155"/>
                          </a:solidFill>
                          <a:latin typeface="Montserrat"/>
                        </a:rPr>
                        <a:t>Retrieval workspace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Claude </a:t>
                      </a:r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Cowork</a:t>
                      </a:r>
                      <a:endParaRPr lang="en-US" sz="1400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NotebookLM</a:t>
                      </a:r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, Elicit, PaperQA2/Edison Lit, etc.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07644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334155"/>
                          </a:solidFill>
                          <a:latin typeface="Montserrat"/>
                        </a:rPr>
                        <a:t>Analysis workbench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4155"/>
                          </a:solidFill>
                          <a:latin typeface="Montserrat"/>
                        </a:rPr>
                        <a:t>Claude Science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Claude Code, Codex, Cursor, Kosmos, </a:t>
                      </a:r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Biomni</a:t>
                      </a:r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Phylo</a:t>
                      </a:r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334155"/>
                          </a:solidFill>
                          <a:latin typeface="Montserrat"/>
                        </a:rPr>
                        <a:t>KDense</a:t>
                      </a:r>
                      <a:endParaRPr lang="en-US" sz="1400" dirty="0">
                        <a:solidFill>
                          <a:srgbClr val="334155"/>
                        </a:solidFill>
                        <a:latin typeface="Montserrat"/>
                      </a:endParaRP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8310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Montserrat"/>
                        </a:rPr>
                        <a:t>Routine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4155"/>
                          </a:solidFill>
                          <a:latin typeface="Montserrat"/>
                        </a:rPr>
                        <a:t>Claude Code routines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Scripts + scheduler, GitHub Actions, Cursor Cloud Agents, Codex Automations, Kosmos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53801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Montserrat"/>
                        </a:rPr>
                        <a:t>Persistent agent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34155"/>
                          </a:solidFill>
                          <a:latin typeface="Montserrat"/>
                        </a:rPr>
                        <a:t>Hermes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34155"/>
                          </a:solidFill>
                          <a:latin typeface="Montserrat"/>
                        </a:rPr>
                        <a:t>OpenClaw, Kosmos 2, Claude Managed Agents, Gemini Enterprise Agents, custom agent systems, etc.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623915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9C8E73-0179-804C-BF1D-08AC10E65E65}"/>
              </a:ext>
            </a:extLst>
          </p:cNvPr>
          <p:cNvSpPr/>
          <p:nvPr/>
        </p:nvSpPr>
        <p:spPr>
          <a:xfrm>
            <a:off x="457200" y="6070600"/>
            <a:ext cx="11277600" cy="558800"/>
          </a:xfrm>
          <a:prstGeom prst="roundRect">
            <a:avLst/>
          </a:prstGeom>
          <a:solidFill>
            <a:srgbClr val="F8FAFC"/>
          </a:solidFill>
          <a:ln w="15875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D4ED8"/>
                </a:solidFill>
                <a:latin typeface="Montserrat"/>
              </a:rPr>
              <a:t>Quick check: which equivalent surfaces do you already have access to?</a:t>
            </a:r>
          </a:p>
        </p:txBody>
      </p:sp>
    </p:spTree>
    <p:extLst>
      <p:ext uri="{BB962C8B-B14F-4D97-AF65-F5344CB8AC3E}">
        <p14:creationId xmlns:p14="http://schemas.microsoft.com/office/powerpoint/2010/main" val="717993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093F8-B71B-EB48-BD16-5E1A5D030E44}"/>
              </a:ext>
            </a:extLst>
          </p:cNvPr>
          <p:cNvSpPr/>
          <p:nvPr/>
        </p:nvSpPr>
        <p:spPr>
          <a:xfrm>
            <a:off x="5638800" y="990600"/>
            <a:ext cx="914400" cy="50800"/>
          </a:xfrm>
          <a:prstGeom prst="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50828-9461-0E40-8A4D-200C8C97C259}"/>
              </a:ext>
            </a:extLst>
          </p:cNvPr>
          <p:cNvSpPr txBox="1"/>
          <p:nvPr/>
        </p:nvSpPr>
        <p:spPr>
          <a:xfrm>
            <a:off x="1397000" y="1320800"/>
            <a:ext cx="939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800" b="1">
                <a:solidFill>
                  <a:srgbClr val="0F172A"/>
                </a:solidFill>
                <a:latin typeface="Montserrat"/>
              </a:rPr>
              <a:t>AI agents are useful in science when they turn variable scientific work into inspectable workflows.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4BF4AE-35DD-464E-A694-9FA3A9AF35C7}"/>
              </a:ext>
            </a:extLst>
          </p:cNvPr>
          <p:cNvSpPr txBox="1"/>
          <p:nvPr/>
        </p:nvSpPr>
        <p:spPr>
          <a:xfrm>
            <a:off x="3556000" y="5867400"/>
            <a:ext cx="508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1D4ED8"/>
                </a:solidFill>
                <a:latin typeface="Montserrat"/>
              </a:rPr>
              <a:t>Thank you — questions?</a:t>
            </a:r>
          </a:p>
        </p:txBody>
      </p:sp>
    </p:spTree>
    <p:extLst>
      <p:ext uri="{BB962C8B-B14F-4D97-AF65-F5344CB8AC3E}">
        <p14:creationId xmlns:p14="http://schemas.microsoft.com/office/powerpoint/2010/main" val="3324876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3BC084-DCD0-054A-B9FA-03353A0A970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888b209-cb75-492a-9c37-0a9feafbf42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3010</Words>
  <Application>Microsoft Macintosh PowerPoint</Application>
  <PresentationFormat>Widescreen</PresentationFormat>
  <Paragraphs>685</Paragraphs>
  <Slides>40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Montserrat</vt:lpstr>
      <vt:lpstr>Office Theme</vt:lpstr>
      <vt:lpstr>Agents in Science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Blake Lash</dc:creator>
  <cp:lastModifiedBy>Blake Lash</cp:lastModifiedBy>
  <cp:revision>13</cp:revision>
  <dcterms:created xsi:type="dcterms:W3CDTF">2026-07-09T02:23:21Z</dcterms:created>
  <dcterms:modified xsi:type="dcterms:W3CDTF">2026-07-10T21:05:40Z</dcterms:modified>
</cp:coreProperties>
</file>